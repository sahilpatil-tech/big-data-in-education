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C302DDB-3C20-10AA-8522-09D18D15219A}">
          <p14:sldIdLst>
            <p14:sldId id="256"/>
            <p14:sldId id="257"/>
            <p14:sldId id="258"/>
            <p14:sldId id="259"/>
          </p14:sldIdLst>
        </p14:section>
        <p14:section name="Evidence" id="{17378B87-F500-0006-B1A1-3FDF3EA5B5A9}">
          <p14:sldIdLst>
            <p14:sldId id="260"/>
            <p14:sldId id="261"/>
            <p14:sldId id="262"/>
          </p14:sldIdLst>
        </p14:section>
        <p14:section name="Methods" id="{4B9226FA-5CD7-86F3-24A0-ADDC5A309BFA}">
          <p14:sldIdLst>
            <p14:sldId id="263"/>
            <p14:sldId id="264"/>
          </p14:sldIdLst>
        </p14:section>
        <p14:section name="Responsible use" id="{2F54F137-F381-575E-3A7B-8B0F9220D596}">
          <p14:sldIdLst>
            <p14:sldId id="265"/>
            <p14:sldId id="266"/>
          </p14:sldIdLst>
        </p14:section>
        <p14:section name="Close" id="{EF28DF4C-B71D-DFCE-66FC-F0B441A746BC}">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5" d="100"/>
          <a:sy n="85"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29934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This presentation summarises my literature review on how big data and learning analytics are used to understand student academic performance. Note up front that this is a review of existing research, not a new experiment. The graphic on the right previews the core idea: performance sits at the centre of four families of factors, which we will unpack shortly. I'll cover what predicts performance, how models predict it, and how to use those predictions responsibly.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problem. A final grade tells us what happened, but by then it is too late to help. Educational institutions already collect data every day through student information systems, learning platforms, assessments and attendance. The opportunity is to use that stream to notice students who may need support earlier. But three things make this hard: outcomes have many interacting causes, data is only useful when it is collected lawfully and well, and a prediction used carelessly can label or harm students. This talk is about getting the benefits while managing those risks.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roadmap. First the three research questions, then the factors that predict performance, then the evidence, methods and metrics. After that I'll move to responsible use: the early-warning cycle, research gaps and safeguards. I'll finish with the limits of this review and a call to action. For context, the review draws on a 28-item bibliography covering 2014 to 2025, and it is a literature synthesis rather than a new experiment.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research questions structure everything that follows. RQ1 asks which factors are most often reported as predictors. RQ2 asks which methods are used and what trade-offs they involve. RQ3 asks how prediction can support early intervention without compromising privacy, fairness or student agency. Notice that the third question is not purely technical, and that is deliberate: a model that works but is used badly is not a success.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literature groups predictors into four families. Academic history: prior grades, quiz scores and assessment results. Engagement and behaviour: attendance, platform activity, video viewing and assignment completion. Learner and social context: motivation, self-efficacy and social support. Environment and access: connectivity and learning resources. An important caution: these are associations reported in particular studies, not universal causes of academic success. The relevance of any factor depends on its quality, timing, context and whether it was collected lawfully.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features are worth using depends heavily on when they are measured. Prior achievement and assessment performance appear repeatedly as useful indicators. Online engagement adds information about the learning process and may allow earlier intervention than final grades alone. The trap is information leakage: if a variable is recorded after the outcome has already happened, the model looks impressively accurate, but that accuracy is unrealistic and useless for early warning. So when judging any predictive study, ask when each feature would actually have been available.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examples show the range of the literature. Namoun and Alshanqiti reviewed 62 studies and found online learning activity, assessment grades and academic emotions among the evident predictors. Waheed and colleagues used virtual learning environment clickstream data and reported 84 to 93 percent accuracy with a deep neural network, depending on configuration. Lu and colleagues predicted performance early in a blended Calculus course. Ting and colleagues compared several algorithms on a large PISA dataset. The key message in the banner: these numbers come from different datasets and evaluation set-ups, so they should not be ranked against each other.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summarises the main model families. Regression gives a clear baseline with interpretable coefficients. Trees and Random Forests capture non-linear patterns but are harder to explain. Gradient-boosted trees are often effective on tabular data but need careful tuning. SVMs and k-nearest neighbours are useful comparators, sensitive to scaling and parameters. Deep networks can use complex activity sequences but need more data and careful interpretation. The takeaway at the bottom matters most: nobody can honestly call one algorithm best without comparable datasets, target definitions, validation and metrics.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word, accuracy, can hide very different behaviour. Accuracy is the share of all predictions that are correct. Precision asks, of the students flagged, how many truly needed help. Recall asks, of the students who needed help, how many did we find. F1 balances the two. In educational data the group at risk is often small, so a model can score high accuracy while missing most of the students we care about. Any numeric comparison should state the target definition, dataset, validation method, class balance and metric.</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workflow I recommend. Start with permitted data, validate and prepare it, estimate risk with a tested model, then, critically, have an educator review the wider context before anything happens. Only then offer appropriate support, and afterwards evaluate both outcomes and fairness. Governance runs through every step: privacy, fairness, transparency and human oversight. The bottom line is the one to remember: a risk score is a prompt for a supportive conversation, never a verdict about a student's ability or future.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the research gaps. Some models rely on static features and miss how engagement changes during a course. Educators need explanations they can act on, not just scores. Performance may not transfer across institutions, subjects or teaching modes, and future studies should use leakage-resistant validation and test whether interventions actually improve outcomes. On the right, the safeguards: collect only data with a clear educational purpose, restrict access and set retention periods, check fairness across groups and watch for proxy variables, and keep monitoring after deployment because populations and platforms change.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straightforward about limits builds credibility. This is a narrative synthesis of the supplied bibliography. It does not report a new dataset or a newly trained model, and the original draft did not record search dates, strings or screening counts, so I do not claim exhaustive coverage or a formal systematic review. Before submitting to a journal, the next steps are clear: document the search and screening process, build an evidence table tracing every figure to its source, and verify all bibliographic metadata against publisher records.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call to action, aimed at anyone building or evaluating educational analytics. First, validate locally: a model that works in one institution may not generalise to yours. Second, keep educators in the loop, because predictions should complement judgement and student dialogue, not replace them. Third, judge success by whether students actually receive better support and achieve better outcomes, not only by predictive accuracy. Thank the audience and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1"/>
          </a:solidFill>
          <a:ln/>
        </p:spPr>
      </p:sp>
      <p:sp>
        <p:nvSpPr>
          <p:cNvPr id="3" name="Text 1"/>
          <p:cNvSpPr>
            <a:spLocks noGrp="1"/>
          </p:cNvSpPr>
          <p:nvPr>
            <p:ph type="title" idx="101" hasCustomPrompt="1"/>
          </p:nvPr>
        </p:nvSpPr>
        <p:spPr>
          <a:xfrm>
            <a:off x="640080" y="1188720"/>
            <a:ext cx="6309360" cy="2560320"/>
          </a:xfrm>
          <a:prstGeom prst="rect">
            <a:avLst/>
          </a:prstGeom>
          <a:noFill/>
          <a:ln/>
        </p:spPr>
        <p:txBody>
          <a:bodyPr wrap="square" rtlCol="0"/>
          <a:lstStyle>
            <a:lvl1pPr marL="0" indent="0" algn="l">
              <a:buNone/>
              <a:defRPr lang="en-US" sz="3800" b="1" dirty="0">
                <a:solidFill>
                  <a:schemeClr val="bg1"/>
                </a:solidFill>
              </a:defRPr>
            </a:lvl1pPr>
          </a:lstStyle>
          <a:p>
            <a:pPr marL="0" indent="0" algn="l">
              <a:buNone/>
            </a:pPr>
            <a:endParaRPr lang="en-US" sz="3800" dirty="0"/>
          </a:p>
        </p:txBody>
      </p:sp>
      <p:sp>
        <p:nvSpPr>
          <p:cNvPr id="4" name="Text 1"/>
          <p:cNvSpPr>
            <a:spLocks noGrp="1"/>
          </p:cNvSpPr>
          <p:nvPr>
            <p:ph type="body" idx="102" hasCustomPrompt="1"/>
          </p:nvPr>
        </p:nvSpPr>
        <p:spPr>
          <a:xfrm>
            <a:off x="640080" y="3931920"/>
            <a:ext cx="6035040" cy="914400"/>
          </a:xfrm>
          <a:prstGeom prst="rect">
            <a:avLst/>
          </a:prstGeom>
          <a:noFill/>
          <a:ln/>
        </p:spPr>
        <p:txBody>
          <a:bodyPr wrap="square" rtlCol="0"/>
          <a:lstStyle>
            <a:lvl1pPr marL="0" indent="0" algn="l">
              <a:buNone/>
              <a:defRPr lang="en-US" sz="1800" dirty="0">
                <a:solidFill>
                  <a:schemeClr val="accent5"/>
                </a:solidFill>
              </a:defRPr>
            </a:lvl1pPr>
          </a:lstStyle>
          <a:p>
            <a:pPr marL="0" indent="0" algn="l">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rtlCol="0"/>
          <a:lstStyle>
            <a:lvl1pPr marL="0" indent="0" algn="l">
              <a:buNone/>
              <a:defRPr lang="en-US" sz="3600" b="1" dirty="0">
                <a:solidFill>
                  <a:schemeClr val="tx1"/>
                </a:solidFill>
              </a:defRPr>
            </a:lvl1pPr>
          </a:lstStyle>
          <a:p>
            <a:pPr marL="0" indent="0" algn="l">
              <a:buNone/>
            </a:pPr>
            <a:endParaRPr lang="en-US" sz="36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chemeClr val="tx2"/>
                </a:solidFill>
              </a:rPr>
              <a:t>Big Data in Education  |  S. Patil</a:t>
            </a:r>
            <a:endParaRPr lang="en-US" sz="1000" dirty="0"/>
          </a:p>
        </p:txBody>
      </p:sp>
      <p:sp>
        <p:nvSpPr>
          <p:cNvPr id="25" name="Slide Number Placeholder 0"/>
          <p:cNvSpPr>
            <a:spLocks noGrp="1"/>
          </p:cNvSpPr>
          <p:nvPr>
            <p:ph type="sldNum" sz="quarter" idx="4294967295"/>
          </p:nvPr>
        </p:nvSpPr>
        <p:spPr>
          <a:xfrm>
            <a:off x="11064240" y="6400800"/>
            <a:ext cx="59436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1"/>
          </a:solidFill>
          <a:ln/>
        </p:spPr>
      </p:sp>
      <p:sp>
        <p:nvSpPr>
          <p:cNvPr id="3" name="Text 1"/>
          <p:cNvSpPr>
            <a:spLocks noGrp="1"/>
          </p:cNvSpPr>
          <p:nvPr>
            <p:ph type="title" idx="101" hasCustomPrompt="1"/>
          </p:nvPr>
        </p:nvSpPr>
        <p:spPr>
          <a:xfrm>
            <a:off x="548640" y="365760"/>
            <a:ext cx="11064240" cy="86868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
        <p:nvSpPr>
          <p:cNvPr id="4" name="Text 1"/>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chemeClr val="accent5"/>
                </a:solidFill>
              </a:rPr>
              <a:t>Big Data in Education  |  S. Patil</a:t>
            </a:r>
            <a:endParaRPr lang="en-US" sz="1000" dirty="0"/>
          </a:p>
        </p:txBody>
      </p:sp>
      <p:sp>
        <p:nvSpPr>
          <p:cNvPr id="25" name="Slide Number Placeholder 0"/>
          <p:cNvSpPr>
            <a:spLocks noGrp="1"/>
          </p:cNvSpPr>
          <p:nvPr>
            <p:ph type="sldNum" sz="quarter" idx="4294967295"/>
          </p:nvPr>
        </p:nvSpPr>
        <p:spPr>
          <a:xfrm>
            <a:off x="11064240" y="6400800"/>
            <a:ext cx="59436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9436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9.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24.png"/><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640080" y="1188720"/>
            <a:ext cx="6309360" cy="2560320"/>
          </a:xfrm>
          <a:prstGeom prst="rect">
            <a:avLst/>
          </a:prstGeom>
          <a:noFill/>
          <a:ln/>
        </p:spPr>
        <p:txBody>
          <a:bodyPr wrap="square" lIns="0" tIns="0" rIns="0" bIns="0" rtlCol="0" anchor="t"/>
          <a:lstStyle/>
          <a:p>
            <a:pPr marL="0" indent="0" algn="l">
              <a:buNone/>
            </a:pPr>
            <a:r>
              <a:rPr lang="en-US" sz="3800" b="1" dirty="0">
                <a:solidFill>
                  <a:schemeClr val="bg1"/>
                </a:solidFill>
              </a:rPr>
              <a:t>Big Data in Education: What Shapes Student Academic Performance</a:t>
            </a:r>
            <a:endParaRPr lang="en-US" sz="3800" dirty="0"/>
          </a:p>
        </p:txBody>
      </p:sp>
      <p:sp>
        <p:nvSpPr>
          <p:cNvPr id="3" name="Text 1"/>
          <p:cNvSpPr>
            <a:spLocks noGrp="1"/>
          </p:cNvSpPr>
          <p:nvPr>
            <p:ph type="body" idx="102" hasCustomPrompt="1"/>
          </p:nvPr>
        </p:nvSpPr>
        <p:spPr>
          <a:xfrm>
            <a:off x="640080" y="3931920"/>
            <a:ext cx="6035040" cy="914400"/>
          </a:xfrm>
          <a:prstGeom prst="rect">
            <a:avLst/>
          </a:prstGeom>
          <a:noFill/>
          <a:ln/>
        </p:spPr>
        <p:txBody>
          <a:bodyPr wrap="square" lIns="0" tIns="0" rIns="0" bIns="0" rtlCol="0" anchor="t"/>
          <a:lstStyle/>
          <a:p>
            <a:pPr marL="0" indent="0" algn="l">
              <a:buNone/>
            </a:pPr>
            <a:r>
              <a:rPr lang="en-US" sz="1800" dirty="0">
                <a:solidFill>
                  <a:schemeClr val="accent5"/>
                </a:solidFill>
              </a:rPr>
              <a:t>A literature review of what predicts student outcomes, and how to use predictions responsibly</a:t>
            </a:r>
            <a:endParaRPr lang="en-US" sz="1800" dirty="0"/>
          </a:p>
        </p:txBody>
      </p:sp>
      <p:sp>
        <p:nvSpPr>
          <p:cNvPr id="4" name="Text 2"/>
          <p:cNvSpPr txBox="1"/>
          <p:nvPr/>
        </p:nvSpPr>
        <p:spPr>
          <a:xfrm>
            <a:off x="640080" y="5166360"/>
            <a:ext cx="6400800" cy="914400"/>
          </a:xfrm>
          <a:prstGeom prst="rect">
            <a:avLst/>
          </a:prstGeom>
          <a:noFill/>
          <a:ln/>
        </p:spPr>
        <p:txBody>
          <a:bodyPr wrap="square" lIns="0" tIns="0" rIns="0" bIns="0" rtlCol="0" anchor="t"/>
          <a:lstStyle/>
          <a:p>
            <a:pPr marL="0" indent="0">
              <a:buNone/>
            </a:pPr>
            <a:r>
              <a:rPr lang="en-US" sz="1400" b="1" dirty="0">
                <a:solidFill>
                  <a:schemeClr val="bg1"/>
                </a:solidFill>
              </a:rPr>
              <a:t>Sahil Patil</a:t>
            </a:r>
            <a:endParaRPr lang="en-US" sz="1400" dirty="0"/>
          </a:p>
          <a:p>
            <a:pPr marL="0" indent="0">
              <a:buNone/>
            </a:pPr>
            <a:r>
              <a:rPr lang="en-US" sz="1400" dirty="0">
                <a:solidFill>
                  <a:schemeClr val="bg1"/>
                </a:solidFill>
              </a:rPr>
              <a:t>MCA, R. C. Patel Institute of Management Research and Development, Shirpur</a:t>
            </a:r>
            <a:endParaRPr lang="en-US" sz="1400" dirty="0"/>
          </a:p>
          <a:p>
            <a:pPr marL="0" indent="0">
              <a:buNone/>
            </a:pPr>
            <a:r>
              <a:rPr lang="en-US" sz="1400" dirty="0">
                <a:solidFill>
                  <a:schemeClr val="bg1"/>
                </a:solidFill>
              </a:rPr>
              <a:t>Project guide: Dr. Manoj Sonawne</a:t>
            </a:r>
            <a:endParaRPr lang="en-US" sz="1400" dirty="0"/>
          </a:p>
        </p:txBody>
      </p:sp>
      <p:sp>
        <p:nvSpPr>
          <p:cNvPr id="5" name="Shape 3"/>
          <p:cNvSpPr/>
          <p:nvPr/>
        </p:nvSpPr>
        <p:spPr>
          <a:xfrm>
            <a:off x="7589520" y="3383280"/>
            <a:ext cx="3474720" cy="0"/>
          </a:xfrm>
          <a:prstGeom prst="line">
            <a:avLst/>
          </a:prstGeom>
          <a:noFill/>
          <a:ln w="25400">
            <a:solidFill>
              <a:schemeClr val="accent5"/>
            </a:solidFill>
            <a:prstDash val="solid"/>
          </a:ln>
        </p:spPr>
      </p:sp>
      <p:sp>
        <p:nvSpPr>
          <p:cNvPr id="6" name="Shape 4"/>
          <p:cNvSpPr/>
          <p:nvPr/>
        </p:nvSpPr>
        <p:spPr>
          <a:xfrm>
            <a:off x="9326880" y="1371600"/>
            <a:ext cx="0" cy="4023360"/>
          </a:xfrm>
          <a:prstGeom prst="line">
            <a:avLst/>
          </a:prstGeom>
          <a:noFill/>
          <a:ln w="25400">
            <a:solidFill>
              <a:schemeClr val="accent5"/>
            </a:solidFill>
            <a:prstDash val="solid"/>
          </a:ln>
        </p:spPr>
      </p:sp>
      <p:sp>
        <p:nvSpPr>
          <p:cNvPr id="7" name="Icon circle"/>
          <p:cNvSpPr/>
          <p:nvPr/>
        </p:nvSpPr>
        <p:spPr>
          <a:xfrm>
            <a:off x="8595360" y="2651760"/>
            <a:ext cx="1463040" cy="1463040"/>
          </a:xfrm>
          <a:prstGeom prst="ellipse">
            <a:avLst/>
          </a:prstGeom>
          <a:solidFill>
            <a:schemeClr val="accent2"/>
          </a:solidFill>
          <a:ln/>
        </p:spPr>
      </p:sp>
      <p:pic>
        <p:nvPicPr>
          <p:cNvPr id="8" name="Image 0" descr="GraduationCap icon"/>
          <p:cNvPicPr>
            <a:picLocks noChangeAspect="1"/>
          </p:cNvPicPr>
          <p:nvPr/>
        </p:nvPicPr>
        <p:blipFill>
          <a:blip r:embed="rId3"/>
          <a:stretch>
            <a:fillRect/>
          </a:stretch>
        </p:blipFill>
        <p:spPr>
          <a:xfrm>
            <a:off x="8961120" y="3017520"/>
            <a:ext cx="731520" cy="731520"/>
          </a:xfrm>
          <a:prstGeom prst="rect">
            <a:avLst/>
          </a:prstGeom>
        </p:spPr>
      </p:pic>
      <p:sp>
        <p:nvSpPr>
          <p:cNvPr id="9" name="Icon circle"/>
          <p:cNvSpPr/>
          <p:nvPr/>
        </p:nvSpPr>
        <p:spPr>
          <a:xfrm>
            <a:off x="8823960" y="914400"/>
            <a:ext cx="1005840" cy="1005840"/>
          </a:xfrm>
          <a:prstGeom prst="ellipse">
            <a:avLst/>
          </a:prstGeom>
          <a:solidFill>
            <a:schemeClr val="accent1"/>
          </a:solidFill>
          <a:ln/>
        </p:spPr>
      </p:sp>
      <p:pic>
        <p:nvPicPr>
          <p:cNvPr id="10" name="Image 1" descr="History icon"/>
          <p:cNvPicPr>
            <a:picLocks noChangeAspect="1"/>
          </p:cNvPicPr>
          <p:nvPr/>
        </p:nvPicPr>
        <p:blipFill>
          <a:blip r:embed="rId4"/>
          <a:stretch>
            <a:fillRect/>
          </a:stretch>
        </p:blipFill>
        <p:spPr>
          <a:xfrm>
            <a:off x="9075420" y="1165860"/>
            <a:ext cx="502920" cy="502920"/>
          </a:xfrm>
          <a:prstGeom prst="rect">
            <a:avLst/>
          </a:prstGeom>
        </p:spPr>
      </p:pic>
      <p:sp>
        <p:nvSpPr>
          <p:cNvPr id="11" name="Icon circle"/>
          <p:cNvSpPr/>
          <p:nvPr/>
        </p:nvSpPr>
        <p:spPr>
          <a:xfrm>
            <a:off x="10561320" y="2880360"/>
            <a:ext cx="1005840" cy="1005840"/>
          </a:xfrm>
          <a:prstGeom prst="ellipse">
            <a:avLst/>
          </a:prstGeom>
          <a:solidFill>
            <a:schemeClr val="accent1"/>
          </a:solidFill>
          <a:ln/>
        </p:spPr>
      </p:sp>
      <p:pic>
        <p:nvPicPr>
          <p:cNvPr id="12" name="Image 2" descr="Laptop icon"/>
          <p:cNvPicPr>
            <a:picLocks noChangeAspect="1"/>
          </p:cNvPicPr>
          <p:nvPr/>
        </p:nvPicPr>
        <p:blipFill>
          <a:blip r:embed="rId5"/>
          <a:stretch>
            <a:fillRect/>
          </a:stretch>
        </p:blipFill>
        <p:spPr>
          <a:xfrm>
            <a:off x="10812780" y="3131820"/>
            <a:ext cx="502920" cy="502920"/>
          </a:xfrm>
          <a:prstGeom prst="rect">
            <a:avLst/>
          </a:prstGeom>
        </p:spPr>
      </p:pic>
      <p:sp>
        <p:nvSpPr>
          <p:cNvPr id="13" name="Icon circle"/>
          <p:cNvSpPr/>
          <p:nvPr/>
        </p:nvSpPr>
        <p:spPr>
          <a:xfrm>
            <a:off x="8823960" y="4892040"/>
            <a:ext cx="1005840" cy="1005840"/>
          </a:xfrm>
          <a:prstGeom prst="ellipse">
            <a:avLst/>
          </a:prstGeom>
          <a:solidFill>
            <a:schemeClr val="accent1"/>
          </a:solidFill>
          <a:ln/>
        </p:spPr>
      </p:sp>
      <p:pic>
        <p:nvPicPr>
          <p:cNvPr id="14" name="Image 3" descr="Users icon"/>
          <p:cNvPicPr>
            <a:picLocks noChangeAspect="1"/>
          </p:cNvPicPr>
          <p:nvPr/>
        </p:nvPicPr>
        <p:blipFill>
          <a:blip r:embed="rId6"/>
          <a:stretch>
            <a:fillRect/>
          </a:stretch>
        </p:blipFill>
        <p:spPr>
          <a:xfrm>
            <a:off x="9075420" y="5143500"/>
            <a:ext cx="502920" cy="502920"/>
          </a:xfrm>
          <a:prstGeom prst="rect">
            <a:avLst/>
          </a:prstGeom>
        </p:spPr>
      </p:pic>
      <p:sp>
        <p:nvSpPr>
          <p:cNvPr id="15" name="Icon circle"/>
          <p:cNvSpPr/>
          <p:nvPr/>
        </p:nvSpPr>
        <p:spPr>
          <a:xfrm>
            <a:off x="7086600" y="2880360"/>
            <a:ext cx="1005840" cy="1005840"/>
          </a:xfrm>
          <a:prstGeom prst="ellipse">
            <a:avLst/>
          </a:prstGeom>
          <a:solidFill>
            <a:schemeClr val="accent1"/>
          </a:solidFill>
          <a:ln/>
        </p:spPr>
      </p:sp>
      <p:pic>
        <p:nvPicPr>
          <p:cNvPr id="16" name="Image 4" descr="Wifi icon"/>
          <p:cNvPicPr>
            <a:picLocks noChangeAspect="1"/>
          </p:cNvPicPr>
          <p:nvPr/>
        </p:nvPicPr>
        <p:blipFill>
          <a:blip r:embed="rId7"/>
          <a:stretch>
            <a:fillRect/>
          </a:stretch>
        </p:blipFill>
        <p:spPr>
          <a:xfrm>
            <a:off x="7338060" y="3131820"/>
            <a:ext cx="502920" cy="5029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600" b="1" dirty="0">
                <a:solidFill>
                  <a:schemeClr val="bg1"/>
                </a:solidFill>
              </a:rPr>
              <a:t>Can data spot struggle before it shows?</a:t>
            </a:r>
            <a:endParaRPr lang="en-US" sz="3600" dirty="0"/>
          </a:p>
        </p:txBody>
      </p:sp>
      <p:sp>
        <p:nvSpPr>
          <p:cNvPr id="3" name="Text 1"/>
          <p:cNvSpPr txBox="1"/>
          <p:nvPr/>
        </p:nvSpPr>
        <p:spPr>
          <a:xfrm>
            <a:off x="548640" y="1508760"/>
            <a:ext cx="11064240" cy="914400"/>
          </a:xfrm>
          <a:prstGeom prst="rect">
            <a:avLst/>
          </a:prstGeom>
          <a:noFill/>
          <a:ln/>
        </p:spPr>
        <p:txBody>
          <a:bodyPr wrap="square" lIns="0" tIns="0" rIns="0" bIns="0" rtlCol="0" anchor="t"/>
          <a:lstStyle/>
          <a:p>
            <a:pPr marL="0" indent="0">
              <a:buNone/>
            </a:pPr>
            <a:r>
              <a:rPr lang="en-US" sz="2800" dirty="0">
                <a:solidFill>
                  <a:schemeClr val="bg1"/>
                </a:solidFill>
                <a:latin typeface="Cambria" pitchFamily="34" charset="0"/>
                <a:ea typeface="Cambria" pitchFamily="34" charset="-122"/>
                <a:cs typeface="Cambria" pitchFamily="34" charset="-120"/>
              </a:rPr>
              <a:t>Grades arrive when the semester is over. </a:t>
            </a:r>
            <a:r>
              <a:rPr lang="en-US" sz="2800" b="1" dirty="0">
                <a:solidFill>
                  <a:schemeClr val="accent2"/>
                </a:solidFill>
                <a:latin typeface="Cambria" pitchFamily="34" charset="0"/>
                <a:ea typeface="Cambria" pitchFamily="34" charset="-122"/>
                <a:cs typeface="Cambria" pitchFamily="34" charset="-120"/>
              </a:rPr>
              <a:t>Learning data arrives every day.</a:t>
            </a:r>
            <a:endParaRPr lang="en-US" sz="2800" dirty="0"/>
          </a:p>
        </p:txBody>
      </p:sp>
      <p:sp>
        <p:nvSpPr>
          <p:cNvPr id="4" name="Card"/>
          <p:cNvSpPr/>
          <p:nvPr/>
        </p:nvSpPr>
        <p:spPr>
          <a:xfrm>
            <a:off x="548640" y="2926080"/>
            <a:ext cx="3566160" cy="3017520"/>
          </a:xfrm>
          <a:prstGeom prst="roundRect">
            <a:avLst>
              <a:gd name="adj" fmla="val 3030"/>
            </a:avLst>
          </a:prstGeom>
          <a:solidFill>
            <a:schemeClr val="accent6"/>
          </a:solidFill>
          <a:ln/>
        </p:spPr>
      </p:sp>
      <p:sp>
        <p:nvSpPr>
          <p:cNvPr id="5" name="Icon circle"/>
          <p:cNvSpPr/>
          <p:nvPr/>
        </p:nvSpPr>
        <p:spPr>
          <a:xfrm>
            <a:off x="822960" y="3200400"/>
            <a:ext cx="777240" cy="777240"/>
          </a:xfrm>
          <a:prstGeom prst="ellipse">
            <a:avLst/>
          </a:prstGeom>
          <a:solidFill>
            <a:schemeClr val="accent2"/>
          </a:solidFill>
          <a:ln/>
        </p:spPr>
      </p:sp>
      <p:pic>
        <p:nvPicPr>
          <p:cNvPr id="6" name="Image 0" descr="Database icon"/>
          <p:cNvPicPr>
            <a:picLocks noChangeAspect="1"/>
          </p:cNvPicPr>
          <p:nvPr/>
        </p:nvPicPr>
        <p:blipFill>
          <a:blip r:embed="rId3"/>
          <a:stretch>
            <a:fillRect/>
          </a:stretch>
        </p:blipFill>
        <p:spPr>
          <a:xfrm>
            <a:off x="1017270" y="3394710"/>
            <a:ext cx="388620" cy="388620"/>
          </a:xfrm>
          <a:prstGeom prst="rect">
            <a:avLst/>
          </a:prstGeom>
        </p:spPr>
      </p:pic>
      <p:sp>
        <p:nvSpPr>
          <p:cNvPr id="7" name="Text 4"/>
          <p:cNvSpPr txBox="1"/>
          <p:nvPr/>
        </p:nvSpPr>
        <p:spPr>
          <a:xfrm>
            <a:off x="822960" y="4160520"/>
            <a:ext cx="3017520" cy="411480"/>
          </a:xfrm>
          <a:prstGeom prst="rect">
            <a:avLst/>
          </a:prstGeom>
          <a:noFill/>
          <a:ln/>
        </p:spPr>
        <p:txBody>
          <a:bodyPr wrap="square" lIns="0" tIns="0" rIns="0" bIns="0" rtlCol="0" anchor="t"/>
          <a:lstStyle/>
          <a:p>
            <a:pPr marL="0" indent="0">
              <a:buNone/>
            </a:pPr>
            <a:r>
              <a:rPr lang="en-US" sz="2000" b="1" dirty="0">
                <a:solidFill>
                  <a:schemeClr val="bg1"/>
                </a:solidFill>
              </a:rPr>
              <a:t>Data is everywhere</a:t>
            </a:r>
            <a:endParaRPr lang="en-US" sz="2000" dirty="0"/>
          </a:p>
        </p:txBody>
      </p:sp>
      <p:sp>
        <p:nvSpPr>
          <p:cNvPr id="8" name="Text 5"/>
          <p:cNvSpPr txBox="1"/>
          <p:nvPr/>
        </p:nvSpPr>
        <p:spPr>
          <a:xfrm>
            <a:off x="822960" y="4617720"/>
            <a:ext cx="3017520" cy="1188720"/>
          </a:xfrm>
          <a:prstGeom prst="rect">
            <a:avLst/>
          </a:prstGeom>
          <a:noFill/>
          <a:ln/>
        </p:spPr>
        <p:txBody>
          <a:bodyPr wrap="square" lIns="0" tIns="0" rIns="0" bIns="0" rtlCol="0" anchor="t"/>
          <a:lstStyle/>
          <a:p>
            <a:pPr marL="0" indent="0">
              <a:buNone/>
            </a:pPr>
            <a:r>
              <a:rPr lang="en-US" sz="1400" dirty="0">
                <a:solidFill>
                  <a:schemeClr val="bg1"/>
                </a:solidFill>
              </a:rPr>
              <a:t>Student records, LMS logs, assessments and attendance leave a constant trail.</a:t>
            </a:r>
            <a:endParaRPr lang="en-US" sz="1400" dirty="0"/>
          </a:p>
        </p:txBody>
      </p:sp>
      <p:sp>
        <p:nvSpPr>
          <p:cNvPr id="9" name="Card"/>
          <p:cNvSpPr/>
          <p:nvPr/>
        </p:nvSpPr>
        <p:spPr>
          <a:xfrm>
            <a:off x="4297680" y="2926080"/>
            <a:ext cx="3566160" cy="3017520"/>
          </a:xfrm>
          <a:prstGeom prst="roundRect">
            <a:avLst>
              <a:gd name="adj" fmla="val 3030"/>
            </a:avLst>
          </a:prstGeom>
          <a:solidFill>
            <a:schemeClr val="accent6"/>
          </a:solidFill>
          <a:ln/>
        </p:spPr>
      </p:sp>
      <p:sp>
        <p:nvSpPr>
          <p:cNvPr id="10" name="Icon circle"/>
          <p:cNvSpPr/>
          <p:nvPr/>
        </p:nvSpPr>
        <p:spPr>
          <a:xfrm>
            <a:off x="4572000" y="3200400"/>
            <a:ext cx="777240" cy="777240"/>
          </a:xfrm>
          <a:prstGeom prst="ellipse">
            <a:avLst/>
          </a:prstGeom>
          <a:solidFill>
            <a:schemeClr val="accent2"/>
          </a:solidFill>
          <a:ln/>
        </p:spPr>
      </p:sp>
      <p:pic>
        <p:nvPicPr>
          <p:cNvPr id="11" name="Image 1" descr="Brain icon"/>
          <p:cNvPicPr>
            <a:picLocks noChangeAspect="1"/>
          </p:cNvPicPr>
          <p:nvPr/>
        </p:nvPicPr>
        <p:blipFill>
          <a:blip r:embed="rId4"/>
          <a:stretch>
            <a:fillRect/>
          </a:stretch>
        </p:blipFill>
        <p:spPr>
          <a:xfrm>
            <a:off x="4766310" y="3394710"/>
            <a:ext cx="388620" cy="388620"/>
          </a:xfrm>
          <a:prstGeom prst="rect">
            <a:avLst/>
          </a:prstGeom>
        </p:spPr>
      </p:pic>
      <p:sp>
        <p:nvSpPr>
          <p:cNvPr id="12" name="Text 8"/>
          <p:cNvSpPr txBox="1"/>
          <p:nvPr/>
        </p:nvSpPr>
        <p:spPr>
          <a:xfrm>
            <a:off x="4572000" y="4160520"/>
            <a:ext cx="3017520" cy="411480"/>
          </a:xfrm>
          <a:prstGeom prst="rect">
            <a:avLst/>
          </a:prstGeom>
          <a:noFill/>
          <a:ln/>
        </p:spPr>
        <p:txBody>
          <a:bodyPr wrap="square" lIns="0" tIns="0" rIns="0" bIns="0" rtlCol="0" anchor="t"/>
          <a:lstStyle/>
          <a:p>
            <a:pPr marL="0" indent="0">
              <a:buNone/>
            </a:pPr>
            <a:r>
              <a:rPr lang="en-US" sz="2000" b="1" dirty="0">
                <a:solidFill>
                  <a:schemeClr val="bg1"/>
                </a:solidFill>
              </a:rPr>
              <a:t>Many drivers, not one</a:t>
            </a:r>
            <a:endParaRPr lang="en-US" sz="2000" dirty="0"/>
          </a:p>
        </p:txBody>
      </p:sp>
      <p:sp>
        <p:nvSpPr>
          <p:cNvPr id="13" name="Text 9"/>
          <p:cNvSpPr txBox="1"/>
          <p:nvPr/>
        </p:nvSpPr>
        <p:spPr>
          <a:xfrm>
            <a:off x="4572000" y="4617720"/>
            <a:ext cx="3017520" cy="1188720"/>
          </a:xfrm>
          <a:prstGeom prst="rect">
            <a:avLst/>
          </a:prstGeom>
          <a:noFill/>
          <a:ln/>
        </p:spPr>
        <p:txBody>
          <a:bodyPr wrap="square" lIns="0" tIns="0" rIns="0" bIns="0" rtlCol="0" anchor="t"/>
          <a:lstStyle/>
          <a:p>
            <a:pPr marL="0" indent="0">
              <a:buNone/>
            </a:pPr>
            <a:r>
              <a:rPr lang="en-US" sz="1400" dirty="0">
                <a:solidFill>
                  <a:schemeClr val="bg1"/>
                </a:solidFill>
              </a:rPr>
              <a:t>Prior grades, engagement, context and access interact. No single variable explains performance.</a:t>
            </a:r>
            <a:endParaRPr lang="en-US" sz="1400" dirty="0"/>
          </a:p>
        </p:txBody>
      </p:sp>
      <p:sp>
        <p:nvSpPr>
          <p:cNvPr id="14" name="Card"/>
          <p:cNvSpPr/>
          <p:nvPr/>
        </p:nvSpPr>
        <p:spPr>
          <a:xfrm>
            <a:off x="8046720" y="2926080"/>
            <a:ext cx="3566160" cy="3017520"/>
          </a:xfrm>
          <a:prstGeom prst="roundRect">
            <a:avLst>
              <a:gd name="adj" fmla="val 3030"/>
            </a:avLst>
          </a:prstGeom>
          <a:solidFill>
            <a:schemeClr val="accent6"/>
          </a:solidFill>
          <a:ln/>
        </p:spPr>
      </p:sp>
      <p:sp>
        <p:nvSpPr>
          <p:cNvPr id="15" name="Icon circle"/>
          <p:cNvSpPr/>
          <p:nvPr/>
        </p:nvSpPr>
        <p:spPr>
          <a:xfrm>
            <a:off x="8321040" y="3200400"/>
            <a:ext cx="777240" cy="777240"/>
          </a:xfrm>
          <a:prstGeom prst="ellipse">
            <a:avLst/>
          </a:prstGeom>
          <a:solidFill>
            <a:schemeClr val="accent2"/>
          </a:solidFill>
          <a:ln/>
        </p:spPr>
      </p:sp>
      <p:pic>
        <p:nvPicPr>
          <p:cNvPr id="16" name="Image 2" descr="ExclamationTriangle icon"/>
          <p:cNvPicPr>
            <a:picLocks noChangeAspect="1"/>
          </p:cNvPicPr>
          <p:nvPr/>
        </p:nvPicPr>
        <p:blipFill>
          <a:blip r:embed="rId5"/>
          <a:stretch>
            <a:fillRect/>
          </a:stretch>
        </p:blipFill>
        <p:spPr>
          <a:xfrm>
            <a:off x="8515350" y="3394710"/>
            <a:ext cx="388620" cy="388620"/>
          </a:xfrm>
          <a:prstGeom prst="rect">
            <a:avLst/>
          </a:prstGeom>
        </p:spPr>
      </p:pic>
      <p:sp>
        <p:nvSpPr>
          <p:cNvPr id="17" name="Text 12"/>
          <p:cNvSpPr txBox="1"/>
          <p:nvPr/>
        </p:nvSpPr>
        <p:spPr>
          <a:xfrm>
            <a:off x="8321040" y="4160520"/>
            <a:ext cx="3017520" cy="411480"/>
          </a:xfrm>
          <a:prstGeom prst="rect">
            <a:avLst/>
          </a:prstGeom>
          <a:noFill/>
          <a:ln/>
        </p:spPr>
        <p:txBody>
          <a:bodyPr wrap="square" lIns="0" tIns="0" rIns="0" bIns="0" rtlCol="0" anchor="t"/>
          <a:lstStyle/>
          <a:p>
            <a:pPr marL="0" indent="0">
              <a:buNone/>
            </a:pPr>
            <a:r>
              <a:rPr lang="en-US" sz="2000" b="1" dirty="0">
                <a:solidFill>
                  <a:schemeClr val="bg1"/>
                </a:solidFill>
              </a:rPr>
              <a:t>Predictions carry risk</a:t>
            </a:r>
            <a:endParaRPr lang="en-US" sz="2000" dirty="0"/>
          </a:p>
        </p:txBody>
      </p:sp>
      <p:sp>
        <p:nvSpPr>
          <p:cNvPr id="18" name="Text 13"/>
          <p:cNvSpPr txBox="1"/>
          <p:nvPr/>
        </p:nvSpPr>
        <p:spPr>
          <a:xfrm>
            <a:off x="8321040" y="4617720"/>
            <a:ext cx="3017520" cy="1188720"/>
          </a:xfrm>
          <a:prstGeom prst="rect">
            <a:avLst/>
          </a:prstGeom>
          <a:noFill/>
          <a:ln/>
        </p:spPr>
        <p:txBody>
          <a:bodyPr wrap="square" lIns="0" tIns="0" rIns="0" bIns="0" rtlCol="0" anchor="t"/>
          <a:lstStyle/>
          <a:p>
            <a:pPr marL="0" indent="0">
              <a:buNone/>
            </a:pPr>
            <a:r>
              <a:rPr lang="en-US" sz="1400" dirty="0">
                <a:solidFill>
                  <a:schemeClr val="bg1"/>
                </a:solidFill>
              </a:rPr>
              <a:t>An unexplained score used as a label can do real harm to students.</a:t>
            </a:r>
            <a:endParaRPr lang="en-US" sz="1400" dirty="0"/>
          </a:p>
        </p:txBody>
      </p:sp>
      <p:sp>
        <p:nvSpPr>
          <p:cNvPr id="25" name="Slide Number Placeholder 0"/>
          <p:cNvSpPr>
            <a:spLocks noGrp="1"/>
          </p:cNvSpPr>
          <p:nvPr>
            <p:ph type="sldNum" sz="quarter" idx="4294967295"/>
          </p:nvPr>
        </p:nvSpPr>
        <p:spPr>
          <a:xfrm>
            <a:off x="11064240" y="6400800"/>
            <a:ext cx="59436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600" b="1" dirty="0">
                <a:solidFill>
                  <a:schemeClr val="tx1"/>
                </a:solidFill>
              </a:rPr>
              <a:t>Today’s roadmap</a:t>
            </a:r>
            <a:endParaRPr lang="en-US" sz="3600" dirty="0"/>
          </a:p>
        </p:txBody>
      </p:sp>
      <p:sp>
        <p:nvSpPr>
          <p:cNvPr id="3" name="Step number 1"/>
          <p:cNvSpPr txBox="1"/>
          <p:nvPr/>
        </p:nvSpPr>
        <p:spPr>
          <a:xfrm>
            <a:off x="548640" y="1554480"/>
            <a:ext cx="594360" cy="594360"/>
          </a:xfrm>
          <a:prstGeom prst="ellipse">
            <a:avLst/>
          </a:prstGeom>
          <a:solidFill>
            <a:schemeClr val="accent6"/>
          </a:solid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4" name="Text 2"/>
          <p:cNvSpPr txBox="1"/>
          <p:nvPr/>
        </p:nvSpPr>
        <p:spPr>
          <a:xfrm>
            <a:off x="1371600" y="1490472"/>
            <a:ext cx="5852160" cy="365760"/>
          </a:xfrm>
          <a:prstGeom prst="rect">
            <a:avLst/>
          </a:prstGeom>
          <a:noFill/>
          <a:ln/>
        </p:spPr>
        <p:txBody>
          <a:bodyPr wrap="square" lIns="0" tIns="0" rIns="0" bIns="0" rtlCol="0" anchor="t"/>
          <a:lstStyle/>
          <a:p>
            <a:pPr marL="0" indent="0">
              <a:buNone/>
            </a:pPr>
            <a:r>
              <a:rPr lang="en-US" sz="2000" b="1" dirty="0">
                <a:solidFill>
                  <a:schemeClr val="tx1"/>
                </a:solidFill>
              </a:rPr>
              <a:t>The question</a:t>
            </a:r>
            <a:endParaRPr lang="en-US" sz="2000" dirty="0"/>
          </a:p>
        </p:txBody>
      </p:sp>
      <p:sp>
        <p:nvSpPr>
          <p:cNvPr id="5" name="Text 3"/>
          <p:cNvSpPr txBox="1"/>
          <p:nvPr/>
        </p:nvSpPr>
        <p:spPr>
          <a:xfrm>
            <a:off x="1371600" y="1874520"/>
            <a:ext cx="5852160" cy="320040"/>
          </a:xfrm>
          <a:prstGeom prst="rect">
            <a:avLst/>
          </a:prstGeom>
          <a:noFill/>
          <a:ln/>
        </p:spPr>
        <p:txBody>
          <a:bodyPr wrap="square" lIns="0" tIns="0" rIns="0" bIns="0" rtlCol="0" anchor="t"/>
          <a:lstStyle/>
          <a:p>
            <a:pPr marL="0" indent="0">
              <a:buNone/>
            </a:pPr>
            <a:r>
              <a:rPr lang="en-US" sz="1400" dirty="0">
                <a:solidFill>
                  <a:schemeClr val="tx2"/>
                </a:solidFill>
              </a:rPr>
              <a:t>Three research questions frame the review</a:t>
            </a:r>
            <a:endParaRPr lang="en-US" sz="1400" dirty="0"/>
          </a:p>
        </p:txBody>
      </p:sp>
      <p:sp>
        <p:nvSpPr>
          <p:cNvPr id="6" name="Step number 2"/>
          <p:cNvSpPr txBox="1"/>
          <p:nvPr/>
        </p:nvSpPr>
        <p:spPr>
          <a:xfrm>
            <a:off x="548640" y="2468880"/>
            <a:ext cx="594360" cy="594360"/>
          </a:xfrm>
          <a:prstGeom prst="ellipse">
            <a:avLst/>
          </a:prstGeom>
          <a:solidFill>
            <a:schemeClr val="accent6"/>
          </a:solid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7" name="Text 5"/>
          <p:cNvSpPr txBox="1"/>
          <p:nvPr/>
        </p:nvSpPr>
        <p:spPr>
          <a:xfrm>
            <a:off x="1371600" y="2404872"/>
            <a:ext cx="5852160" cy="365760"/>
          </a:xfrm>
          <a:prstGeom prst="rect">
            <a:avLst/>
          </a:prstGeom>
          <a:noFill/>
          <a:ln/>
        </p:spPr>
        <p:txBody>
          <a:bodyPr wrap="square" lIns="0" tIns="0" rIns="0" bIns="0" rtlCol="0" anchor="t"/>
          <a:lstStyle/>
          <a:p>
            <a:pPr marL="0" indent="0">
              <a:buNone/>
            </a:pPr>
            <a:r>
              <a:rPr lang="en-US" sz="2000" b="1" dirty="0">
                <a:solidFill>
                  <a:schemeClr val="tx1"/>
                </a:solidFill>
              </a:rPr>
              <a:t>What predicts performance</a:t>
            </a:r>
            <a:endParaRPr lang="en-US" sz="2000" dirty="0"/>
          </a:p>
        </p:txBody>
      </p:sp>
      <p:sp>
        <p:nvSpPr>
          <p:cNvPr id="8" name="Text 6"/>
          <p:cNvSpPr txBox="1"/>
          <p:nvPr/>
        </p:nvSpPr>
        <p:spPr>
          <a:xfrm>
            <a:off x="1371600" y="2788920"/>
            <a:ext cx="5852160" cy="320040"/>
          </a:xfrm>
          <a:prstGeom prst="rect">
            <a:avLst/>
          </a:prstGeom>
          <a:noFill/>
          <a:ln/>
        </p:spPr>
        <p:txBody>
          <a:bodyPr wrap="square" lIns="0" tIns="0" rIns="0" bIns="0" rtlCol="0" anchor="t"/>
          <a:lstStyle/>
          <a:p>
            <a:pPr marL="0" indent="0">
              <a:buNone/>
            </a:pPr>
            <a:r>
              <a:rPr lang="en-US" sz="1400" dirty="0">
                <a:solidFill>
                  <a:schemeClr val="tx2"/>
                </a:solidFill>
              </a:rPr>
              <a:t>Four families of factors</a:t>
            </a:r>
            <a:endParaRPr lang="en-US" sz="1400" dirty="0"/>
          </a:p>
        </p:txBody>
      </p:sp>
      <p:sp>
        <p:nvSpPr>
          <p:cNvPr id="9" name="Step number 3"/>
          <p:cNvSpPr txBox="1"/>
          <p:nvPr/>
        </p:nvSpPr>
        <p:spPr>
          <a:xfrm>
            <a:off x="548640" y="3383280"/>
            <a:ext cx="594360" cy="594360"/>
          </a:xfrm>
          <a:prstGeom prst="ellipse">
            <a:avLst/>
          </a:prstGeom>
          <a:solidFill>
            <a:schemeClr val="accent6"/>
          </a:solid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0" name="Text 8"/>
          <p:cNvSpPr txBox="1"/>
          <p:nvPr/>
        </p:nvSpPr>
        <p:spPr>
          <a:xfrm>
            <a:off x="1371600" y="3319272"/>
            <a:ext cx="5852160" cy="365760"/>
          </a:xfrm>
          <a:prstGeom prst="rect">
            <a:avLst/>
          </a:prstGeom>
          <a:noFill/>
          <a:ln/>
        </p:spPr>
        <p:txBody>
          <a:bodyPr wrap="square" lIns="0" tIns="0" rIns="0" bIns="0" rtlCol="0" anchor="t"/>
          <a:lstStyle/>
          <a:p>
            <a:pPr marL="0" indent="0">
              <a:buNone/>
            </a:pPr>
            <a:r>
              <a:rPr lang="en-US" sz="2000" b="1" dirty="0">
                <a:solidFill>
                  <a:schemeClr val="tx1"/>
                </a:solidFill>
              </a:rPr>
              <a:t>How models predict it</a:t>
            </a:r>
            <a:endParaRPr lang="en-US" sz="2000" dirty="0"/>
          </a:p>
        </p:txBody>
      </p:sp>
      <p:sp>
        <p:nvSpPr>
          <p:cNvPr id="11" name="Text 9"/>
          <p:cNvSpPr txBox="1"/>
          <p:nvPr/>
        </p:nvSpPr>
        <p:spPr>
          <a:xfrm>
            <a:off x="1371600" y="3703320"/>
            <a:ext cx="5852160" cy="320040"/>
          </a:xfrm>
          <a:prstGeom prst="rect">
            <a:avLst/>
          </a:prstGeom>
          <a:noFill/>
          <a:ln/>
        </p:spPr>
        <p:txBody>
          <a:bodyPr wrap="square" lIns="0" tIns="0" rIns="0" bIns="0" rtlCol="0" anchor="t"/>
          <a:lstStyle/>
          <a:p>
            <a:pPr marL="0" indent="0">
              <a:buNone/>
            </a:pPr>
            <a:r>
              <a:rPr lang="en-US" sz="1400" dirty="0">
                <a:solidFill>
                  <a:schemeClr val="tx2"/>
                </a:solidFill>
              </a:rPr>
              <a:t>Evidence, methods and metrics</a:t>
            </a:r>
            <a:endParaRPr lang="en-US" sz="1400" dirty="0"/>
          </a:p>
        </p:txBody>
      </p:sp>
      <p:sp>
        <p:nvSpPr>
          <p:cNvPr id="12" name="Step number 4"/>
          <p:cNvSpPr txBox="1"/>
          <p:nvPr/>
        </p:nvSpPr>
        <p:spPr>
          <a:xfrm>
            <a:off x="548640" y="4297680"/>
            <a:ext cx="594360" cy="594360"/>
          </a:xfrm>
          <a:prstGeom prst="ellipse">
            <a:avLst/>
          </a:prstGeom>
          <a:solidFill>
            <a:schemeClr val="accent6"/>
          </a:solid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13" name="Text 11"/>
          <p:cNvSpPr txBox="1"/>
          <p:nvPr/>
        </p:nvSpPr>
        <p:spPr>
          <a:xfrm>
            <a:off x="1371600" y="4233672"/>
            <a:ext cx="5852160" cy="365760"/>
          </a:xfrm>
          <a:prstGeom prst="rect">
            <a:avLst/>
          </a:prstGeom>
          <a:noFill/>
          <a:ln/>
        </p:spPr>
        <p:txBody>
          <a:bodyPr wrap="square" lIns="0" tIns="0" rIns="0" bIns="0" rtlCol="0" anchor="t"/>
          <a:lstStyle/>
          <a:p>
            <a:pPr marL="0" indent="0">
              <a:buNone/>
            </a:pPr>
            <a:r>
              <a:rPr lang="en-US" sz="2000" b="1" dirty="0">
                <a:solidFill>
                  <a:schemeClr val="tx1"/>
                </a:solidFill>
              </a:rPr>
              <a:t>Using predictions responsibly</a:t>
            </a:r>
            <a:endParaRPr lang="en-US" sz="2000" dirty="0"/>
          </a:p>
        </p:txBody>
      </p:sp>
      <p:sp>
        <p:nvSpPr>
          <p:cNvPr id="14" name="Text 12"/>
          <p:cNvSpPr txBox="1"/>
          <p:nvPr/>
        </p:nvSpPr>
        <p:spPr>
          <a:xfrm>
            <a:off x="1371600" y="4617720"/>
            <a:ext cx="5852160" cy="320040"/>
          </a:xfrm>
          <a:prstGeom prst="rect">
            <a:avLst/>
          </a:prstGeom>
          <a:noFill/>
          <a:ln/>
        </p:spPr>
        <p:txBody>
          <a:bodyPr wrap="square" lIns="0" tIns="0" rIns="0" bIns="0" rtlCol="0" anchor="t"/>
          <a:lstStyle/>
          <a:p>
            <a:pPr marL="0" indent="0">
              <a:buNone/>
            </a:pPr>
            <a:r>
              <a:rPr lang="en-US" sz="1400" dirty="0">
                <a:solidFill>
                  <a:schemeClr val="tx2"/>
                </a:solidFill>
              </a:rPr>
              <a:t>Early-warning cycle, gaps and safeguards</a:t>
            </a:r>
            <a:endParaRPr lang="en-US" sz="1400" dirty="0"/>
          </a:p>
        </p:txBody>
      </p:sp>
      <p:sp>
        <p:nvSpPr>
          <p:cNvPr id="15" name="Step number 5"/>
          <p:cNvSpPr txBox="1"/>
          <p:nvPr/>
        </p:nvSpPr>
        <p:spPr>
          <a:xfrm>
            <a:off x="548640" y="5212080"/>
            <a:ext cx="594360" cy="594360"/>
          </a:xfrm>
          <a:prstGeom prst="ellipse">
            <a:avLst/>
          </a:prstGeom>
          <a:solidFill>
            <a:schemeClr val="accent6"/>
          </a:solidFill>
          <a:ln/>
        </p:spPr>
        <p:txBody>
          <a:bodyPr wrap="square" lIns="0" tIns="0" rIns="0" bIns="0" rtlCol="0" anchor="ctr"/>
          <a:lstStyle/>
          <a:p>
            <a:pPr marL="0" indent="0" algn="ctr">
              <a:buNone/>
            </a:pPr>
            <a:r>
              <a:rPr lang="en-US" sz="1800" b="1" dirty="0">
                <a:solidFill>
                  <a:schemeClr val="bg1"/>
                </a:solidFill>
              </a:rPr>
              <a:t>5</a:t>
            </a:r>
            <a:endParaRPr lang="en-US" sz="1800" dirty="0"/>
          </a:p>
        </p:txBody>
      </p:sp>
      <p:sp>
        <p:nvSpPr>
          <p:cNvPr id="16" name="Text 14"/>
          <p:cNvSpPr txBox="1"/>
          <p:nvPr/>
        </p:nvSpPr>
        <p:spPr>
          <a:xfrm>
            <a:off x="1371600" y="5148072"/>
            <a:ext cx="5852160" cy="365760"/>
          </a:xfrm>
          <a:prstGeom prst="rect">
            <a:avLst/>
          </a:prstGeom>
          <a:noFill/>
          <a:ln/>
        </p:spPr>
        <p:txBody>
          <a:bodyPr wrap="square" lIns="0" tIns="0" rIns="0" bIns="0" rtlCol="0" anchor="t"/>
          <a:lstStyle/>
          <a:p>
            <a:pPr marL="0" indent="0">
              <a:buNone/>
            </a:pPr>
            <a:r>
              <a:rPr lang="en-US" sz="2000" b="1" dirty="0">
                <a:solidFill>
                  <a:schemeClr val="tx1"/>
                </a:solidFill>
              </a:rPr>
              <a:t>Next steps</a:t>
            </a:r>
            <a:endParaRPr lang="en-US" sz="2000" dirty="0"/>
          </a:p>
        </p:txBody>
      </p:sp>
      <p:sp>
        <p:nvSpPr>
          <p:cNvPr id="17" name="Text 15"/>
          <p:cNvSpPr txBox="1"/>
          <p:nvPr/>
        </p:nvSpPr>
        <p:spPr>
          <a:xfrm>
            <a:off x="1371600" y="5532120"/>
            <a:ext cx="5852160" cy="320040"/>
          </a:xfrm>
          <a:prstGeom prst="rect">
            <a:avLst/>
          </a:prstGeom>
          <a:noFill/>
          <a:ln/>
        </p:spPr>
        <p:txBody>
          <a:bodyPr wrap="square" lIns="0" tIns="0" rIns="0" bIns="0" rtlCol="0" anchor="t"/>
          <a:lstStyle/>
          <a:p>
            <a:pPr marL="0" indent="0">
              <a:buNone/>
            </a:pPr>
            <a:r>
              <a:rPr lang="en-US" sz="1400" dirty="0">
                <a:solidFill>
                  <a:schemeClr val="tx2"/>
                </a:solidFill>
              </a:rPr>
              <a:t>Limits of this review and a call to action</a:t>
            </a:r>
            <a:endParaRPr lang="en-US" sz="1400" dirty="0"/>
          </a:p>
        </p:txBody>
      </p:sp>
      <p:sp>
        <p:nvSpPr>
          <p:cNvPr id="18" name="Source panel"/>
          <p:cNvSpPr/>
          <p:nvPr/>
        </p:nvSpPr>
        <p:spPr>
          <a:xfrm>
            <a:off x="7863840" y="1463040"/>
            <a:ext cx="3749040" cy="4434840"/>
          </a:xfrm>
          <a:prstGeom prst="roundRect">
            <a:avLst>
              <a:gd name="adj" fmla="val 2439"/>
            </a:avLst>
          </a:prstGeom>
          <a:solidFill>
            <a:schemeClr val="bg2"/>
          </a:solidFill>
          <a:ln/>
        </p:spPr>
      </p:sp>
      <p:sp>
        <p:nvSpPr>
          <p:cNvPr id="19" name="Text 17"/>
          <p:cNvSpPr txBox="1"/>
          <p:nvPr/>
        </p:nvSpPr>
        <p:spPr>
          <a:xfrm>
            <a:off x="8183880" y="1691640"/>
            <a:ext cx="3108960" cy="365760"/>
          </a:xfrm>
          <a:prstGeom prst="rect">
            <a:avLst/>
          </a:prstGeom>
          <a:noFill/>
          <a:ln/>
        </p:spPr>
        <p:txBody>
          <a:bodyPr wrap="square" lIns="0" tIns="0" rIns="0" bIns="0" rtlCol="0" anchor="t"/>
          <a:lstStyle/>
          <a:p>
            <a:pPr marL="0" indent="0">
              <a:buNone/>
            </a:pPr>
            <a:r>
              <a:rPr lang="en-US" sz="1600" b="1" dirty="0">
                <a:solidFill>
                  <a:schemeClr val="tx2"/>
                </a:solidFill>
              </a:rPr>
              <a:t>About the source</a:t>
            </a:r>
            <a:endParaRPr lang="en-US" sz="1600" dirty="0"/>
          </a:p>
        </p:txBody>
      </p:sp>
      <p:sp>
        <p:nvSpPr>
          <p:cNvPr id="20" name="Text 18"/>
          <p:cNvSpPr txBox="1"/>
          <p:nvPr/>
        </p:nvSpPr>
        <p:spPr>
          <a:xfrm>
            <a:off x="8183880" y="2194560"/>
            <a:ext cx="3108960" cy="548640"/>
          </a:xfrm>
          <a:prstGeom prst="rect">
            <a:avLst/>
          </a:prstGeom>
          <a:noFill/>
          <a:ln/>
        </p:spPr>
        <p:txBody>
          <a:bodyPr wrap="square" lIns="0" tIns="0" rIns="0" bIns="0" rtlCol="0" anchor="t"/>
          <a:lstStyle/>
          <a:p>
            <a:pPr marL="0" indent="0">
              <a:buNone/>
            </a:pPr>
            <a:r>
              <a:rPr lang="en-US" sz="3200" b="1" dirty="0">
                <a:solidFill>
                  <a:schemeClr val="accent6"/>
                </a:solidFill>
                <a:latin typeface="Cambria" pitchFamily="34" charset="0"/>
                <a:ea typeface="Cambria" pitchFamily="34" charset="-122"/>
                <a:cs typeface="Cambria" pitchFamily="34" charset="-120"/>
              </a:rPr>
              <a:t>28</a:t>
            </a:r>
            <a:endParaRPr lang="en-US" sz="3200" dirty="0"/>
          </a:p>
        </p:txBody>
      </p:sp>
      <p:sp>
        <p:nvSpPr>
          <p:cNvPr id="21" name="Text 19"/>
          <p:cNvSpPr txBox="1"/>
          <p:nvPr/>
        </p:nvSpPr>
        <p:spPr>
          <a:xfrm>
            <a:off x="8183880" y="2761488"/>
            <a:ext cx="3108960" cy="457200"/>
          </a:xfrm>
          <a:prstGeom prst="rect">
            <a:avLst/>
          </a:prstGeom>
          <a:noFill/>
          <a:ln/>
        </p:spPr>
        <p:txBody>
          <a:bodyPr wrap="square" lIns="0" tIns="0" rIns="0" bIns="0" rtlCol="0" anchor="t"/>
          <a:lstStyle/>
          <a:p>
            <a:pPr marL="0" indent="0">
              <a:buNone/>
            </a:pPr>
            <a:r>
              <a:rPr lang="en-US" sz="1400" dirty="0">
                <a:solidFill>
                  <a:schemeClr val="tx1"/>
                </a:solidFill>
              </a:rPr>
              <a:t>references in the bibliography</a:t>
            </a:r>
            <a:endParaRPr lang="en-US" sz="1400" dirty="0"/>
          </a:p>
        </p:txBody>
      </p:sp>
      <p:sp>
        <p:nvSpPr>
          <p:cNvPr id="22" name="Text 20"/>
          <p:cNvSpPr txBox="1"/>
          <p:nvPr/>
        </p:nvSpPr>
        <p:spPr>
          <a:xfrm>
            <a:off x="8183880" y="3383280"/>
            <a:ext cx="3108960" cy="548640"/>
          </a:xfrm>
          <a:prstGeom prst="rect">
            <a:avLst/>
          </a:prstGeom>
          <a:noFill/>
          <a:ln/>
        </p:spPr>
        <p:txBody>
          <a:bodyPr wrap="square" lIns="0" tIns="0" rIns="0" bIns="0" rtlCol="0" anchor="t"/>
          <a:lstStyle/>
          <a:p>
            <a:pPr marL="0" indent="0">
              <a:buNone/>
            </a:pPr>
            <a:r>
              <a:rPr lang="en-US" sz="3200" b="1" dirty="0">
                <a:solidFill>
                  <a:schemeClr val="accent6"/>
                </a:solidFill>
                <a:latin typeface="Cambria" pitchFamily="34" charset="0"/>
                <a:ea typeface="Cambria" pitchFamily="34" charset="-122"/>
                <a:cs typeface="Cambria" pitchFamily="34" charset="-120"/>
              </a:rPr>
              <a:t>2014–2025</a:t>
            </a:r>
            <a:endParaRPr lang="en-US" sz="3200" dirty="0"/>
          </a:p>
        </p:txBody>
      </p:sp>
      <p:sp>
        <p:nvSpPr>
          <p:cNvPr id="23" name="Text 21"/>
          <p:cNvSpPr txBox="1"/>
          <p:nvPr/>
        </p:nvSpPr>
        <p:spPr>
          <a:xfrm>
            <a:off x="8183880" y="3950208"/>
            <a:ext cx="3108960" cy="457200"/>
          </a:xfrm>
          <a:prstGeom prst="rect">
            <a:avLst/>
          </a:prstGeom>
          <a:noFill/>
          <a:ln/>
        </p:spPr>
        <p:txBody>
          <a:bodyPr wrap="square" lIns="0" tIns="0" rIns="0" bIns="0" rtlCol="0" anchor="t"/>
          <a:lstStyle/>
          <a:p>
            <a:pPr marL="0" indent="0">
              <a:buNone/>
            </a:pPr>
            <a:r>
              <a:rPr lang="en-US" sz="1400" dirty="0">
                <a:solidFill>
                  <a:schemeClr val="tx1"/>
                </a:solidFill>
              </a:rPr>
              <a:t>publication window covered</a:t>
            </a:r>
            <a:endParaRPr lang="en-US" sz="1400" dirty="0"/>
          </a:p>
        </p:txBody>
      </p:sp>
      <p:sp>
        <p:nvSpPr>
          <p:cNvPr id="24" name="Text 22"/>
          <p:cNvSpPr txBox="1"/>
          <p:nvPr/>
        </p:nvSpPr>
        <p:spPr>
          <a:xfrm>
            <a:off x="8183880" y="4572000"/>
            <a:ext cx="3108960" cy="548640"/>
          </a:xfrm>
          <a:prstGeom prst="rect">
            <a:avLst/>
          </a:prstGeom>
          <a:noFill/>
          <a:ln/>
        </p:spPr>
        <p:txBody>
          <a:bodyPr wrap="square" lIns="0" tIns="0" rIns="0" bIns="0" rtlCol="0" anchor="t"/>
          <a:lstStyle/>
          <a:p>
            <a:pPr marL="0" indent="0">
              <a:buNone/>
            </a:pPr>
            <a:r>
              <a:rPr lang="en-US" sz="3200" b="1" dirty="0">
                <a:solidFill>
                  <a:schemeClr val="accent6"/>
                </a:solidFill>
                <a:latin typeface="Cambria" pitchFamily="34" charset="0"/>
                <a:ea typeface="Cambria" pitchFamily="34" charset="-122"/>
                <a:cs typeface="Cambria" pitchFamily="34" charset="-120"/>
              </a:rPr>
              <a:t>Review</a:t>
            </a:r>
            <a:endParaRPr lang="en-US" sz="3200" dirty="0"/>
          </a:p>
        </p:txBody>
      </p:sp>
      <p:sp>
        <p:nvSpPr>
          <p:cNvPr id="25" name="Text 23"/>
          <p:cNvSpPr txBox="1"/>
          <p:nvPr/>
        </p:nvSpPr>
        <p:spPr>
          <a:xfrm>
            <a:off x="8183880" y="5138928"/>
            <a:ext cx="3108960" cy="457200"/>
          </a:xfrm>
          <a:prstGeom prst="rect">
            <a:avLst/>
          </a:prstGeom>
          <a:noFill/>
          <a:ln/>
        </p:spPr>
        <p:txBody>
          <a:bodyPr wrap="square" lIns="0" tIns="0" rIns="0" bIns="0" rtlCol="0" anchor="t"/>
          <a:lstStyle/>
          <a:p>
            <a:pPr marL="0" indent="0">
              <a:buNone/>
            </a:pPr>
            <a:r>
              <a:rPr lang="en-US" sz="1400" dirty="0">
                <a:solidFill>
                  <a:schemeClr val="tx1"/>
                </a:solidFill>
              </a:rPr>
              <a:t>a literature synthesis, not a new experiment</a:t>
            </a:r>
            <a:endParaRPr lang="en-US" sz="1400" dirty="0"/>
          </a:p>
        </p:txBody>
      </p:sp>
      <p:sp>
        <p:nvSpPr>
          <p:cNvPr id="26" name="Slide Number Placeholder 0"/>
          <p:cNvSpPr>
            <a:spLocks noGrp="1"/>
          </p:cNvSpPr>
          <p:nvPr>
            <p:ph type="sldNum" sz="quarter" idx="4294967295"/>
          </p:nvPr>
        </p:nvSpPr>
        <p:spPr>
          <a:xfrm>
            <a:off x="11064240" y="6400800"/>
            <a:ext cx="59436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600" b="1" dirty="0">
                <a:solidFill>
                  <a:schemeClr val="tx1"/>
                </a:solidFill>
              </a:rPr>
              <a:t>Three questions frame the review</a:t>
            </a:r>
            <a:endParaRPr lang="en-US" sz="3600" dirty="0"/>
          </a:p>
        </p:txBody>
      </p:sp>
      <p:sp>
        <p:nvSpPr>
          <p:cNvPr id="3" name="Card"/>
          <p:cNvSpPr/>
          <p:nvPr/>
        </p:nvSpPr>
        <p:spPr>
          <a:xfrm>
            <a:off x="548640" y="1508760"/>
            <a:ext cx="3566160" cy="3840480"/>
          </a:xfrm>
          <a:prstGeom prst="roundRect">
            <a:avLst>
              <a:gd name="adj" fmla="val 2564"/>
            </a:avLst>
          </a:prstGeom>
          <a:solidFill>
            <a:schemeClr val="bg2"/>
          </a:solidFill>
          <a:ln/>
        </p:spPr>
      </p:sp>
      <p:sp>
        <p:nvSpPr>
          <p:cNvPr id="4" name="Icon circle"/>
          <p:cNvSpPr/>
          <p:nvPr/>
        </p:nvSpPr>
        <p:spPr>
          <a:xfrm>
            <a:off x="822960" y="1783080"/>
            <a:ext cx="731520" cy="731520"/>
          </a:xfrm>
          <a:prstGeom prst="ellipse">
            <a:avLst/>
          </a:prstGeom>
          <a:solidFill>
            <a:schemeClr val="accent6"/>
          </a:solidFill>
          <a:ln/>
        </p:spPr>
      </p:sp>
      <p:pic>
        <p:nvPicPr>
          <p:cNvPr id="5" name="Image 0" descr="Search icon"/>
          <p:cNvPicPr>
            <a:picLocks noChangeAspect="1"/>
          </p:cNvPicPr>
          <p:nvPr/>
        </p:nvPicPr>
        <p:blipFill>
          <a:blip r:embed="rId3"/>
          <a:stretch>
            <a:fillRect/>
          </a:stretch>
        </p:blipFill>
        <p:spPr>
          <a:xfrm>
            <a:off x="1005840" y="1965960"/>
            <a:ext cx="365760" cy="365760"/>
          </a:xfrm>
          <a:prstGeom prst="rect">
            <a:avLst/>
          </a:prstGeom>
        </p:spPr>
      </p:pic>
      <p:sp>
        <p:nvSpPr>
          <p:cNvPr id="6" name="Text 3"/>
          <p:cNvSpPr txBox="1"/>
          <p:nvPr/>
        </p:nvSpPr>
        <p:spPr>
          <a:xfrm>
            <a:off x="1737360" y="1874520"/>
            <a:ext cx="2103120" cy="548640"/>
          </a:xfrm>
          <a:prstGeom prst="rect">
            <a:avLst/>
          </a:prstGeom>
          <a:noFill/>
          <a:ln/>
        </p:spPr>
        <p:txBody>
          <a:bodyPr wrap="square" lIns="0" tIns="0" rIns="0" bIns="0" rtlCol="0" anchor="ctr"/>
          <a:lstStyle/>
          <a:p>
            <a:pPr marL="0" indent="0">
              <a:buNone/>
            </a:pPr>
            <a:r>
              <a:rPr lang="en-US" sz="3000" b="1" dirty="0">
                <a:solidFill>
                  <a:schemeClr val="accent6"/>
                </a:solidFill>
                <a:latin typeface="Cambria" pitchFamily="34" charset="0"/>
                <a:ea typeface="Cambria" pitchFamily="34" charset="-122"/>
                <a:cs typeface="Cambria" pitchFamily="34" charset="-120"/>
              </a:rPr>
              <a:t>RQ1</a:t>
            </a:r>
            <a:endParaRPr lang="en-US" sz="3000" dirty="0"/>
          </a:p>
        </p:txBody>
      </p:sp>
      <p:sp>
        <p:nvSpPr>
          <p:cNvPr id="7" name="Text 4"/>
          <p:cNvSpPr txBox="1"/>
          <p:nvPr/>
        </p:nvSpPr>
        <p:spPr>
          <a:xfrm>
            <a:off x="822960" y="2788920"/>
            <a:ext cx="3017520" cy="1737360"/>
          </a:xfrm>
          <a:prstGeom prst="rect">
            <a:avLst/>
          </a:prstGeom>
          <a:noFill/>
          <a:ln/>
        </p:spPr>
        <p:txBody>
          <a:bodyPr wrap="square" lIns="0" tIns="0" rIns="0" bIns="0" rtlCol="0" anchor="t"/>
          <a:lstStyle/>
          <a:p>
            <a:pPr marL="0" indent="0">
              <a:buNone/>
            </a:pPr>
            <a:r>
              <a:rPr lang="en-US" sz="1800" dirty="0">
                <a:solidFill>
                  <a:schemeClr val="tx1"/>
                </a:solidFill>
              </a:rPr>
              <a:t>Which student and learning-context factors most often predict academic outcomes?</a:t>
            </a:r>
            <a:endParaRPr lang="en-US" sz="1800" dirty="0"/>
          </a:p>
        </p:txBody>
      </p:sp>
      <p:sp>
        <p:nvSpPr>
          <p:cNvPr id="8" name="Text 5"/>
          <p:cNvSpPr txBox="1"/>
          <p:nvPr/>
        </p:nvSpPr>
        <p:spPr>
          <a:xfrm>
            <a:off x="822960" y="4663440"/>
            <a:ext cx="1737360" cy="365760"/>
          </a:xfrm>
          <a:prstGeom prst="roundRect">
            <a:avLst>
              <a:gd name="adj" fmla="val 37500"/>
            </a:avLst>
          </a:prstGeom>
          <a:solidFill>
            <a:schemeClr val="accent2"/>
          </a:solidFill>
          <a:ln/>
        </p:spPr>
        <p:txBody>
          <a:bodyPr wrap="square" lIns="0" tIns="0" rIns="0" bIns="0" rtlCol="0" anchor="ctr"/>
          <a:lstStyle/>
          <a:p>
            <a:pPr marL="0" indent="0" algn="ctr">
              <a:buNone/>
            </a:pPr>
            <a:r>
              <a:rPr lang="en-US" sz="1200" b="1" dirty="0">
                <a:solidFill>
                  <a:schemeClr val="tx1"/>
                </a:solidFill>
              </a:rPr>
              <a:t>Factors</a:t>
            </a:r>
            <a:endParaRPr lang="en-US" sz="1200" dirty="0"/>
          </a:p>
        </p:txBody>
      </p:sp>
      <p:sp>
        <p:nvSpPr>
          <p:cNvPr id="9" name="Card"/>
          <p:cNvSpPr/>
          <p:nvPr/>
        </p:nvSpPr>
        <p:spPr>
          <a:xfrm>
            <a:off x="4297680" y="1508760"/>
            <a:ext cx="3566160" cy="3840480"/>
          </a:xfrm>
          <a:prstGeom prst="roundRect">
            <a:avLst>
              <a:gd name="adj" fmla="val 2564"/>
            </a:avLst>
          </a:prstGeom>
          <a:solidFill>
            <a:schemeClr val="bg2"/>
          </a:solidFill>
          <a:ln/>
        </p:spPr>
      </p:sp>
      <p:sp>
        <p:nvSpPr>
          <p:cNvPr id="10" name="Icon circle"/>
          <p:cNvSpPr/>
          <p:nvPr/>
        </p:nvSpPr>
        <p:spPr>
          <a:xfrm>
            <a:off x="4572000" y="1783080"/>
            <a:ext cx="731520" cy="731520"/>
          </a:xfrm>
          <a:prstGeom prst="ellipse">
            <a:avLst/>
          </a:prstGeom>
          <a:solidFill>
            <a:schemeClr val="accent6"/>
          </a:solidFill>
          <a:ln/>
        </p:spPr>
      </p:sp>
      <p:pic>
        <p:nvPicPr>
          <p:cNvPr id="11" name="Image 1" descr="ProjectDiagram icon"/>
          <p:cNvPicPr>
            <a:picLocks noChangeAspect="1"/>
          </p:cNvPicPr>
          <p:nvPr/>
        </p:nvPicPr>
        <p:blipFill>
          <a:blip r:embed="rId4"/>
          <a:stretch>
            <a:fillRect/>
          </a:stretch>
        </p:blipFill>
        <p:spPr>
          <a:xfrm>
            <a:off x="4754880" y="1965960"/>
            <a:ext cx="365760" cy="365760"/>
          </a:xfrm>
          <a:prstGeom prst="rect">
            <a:avLst/>
          </a:prstGeom>
        </p:spPr>
      </p:pic>
      <p:sp>
        <p:nvSpPr>
          <p:cNvPr id="12" name="Text 8"/>
          <p:cNvSpPr txBox="1"/>
          <p:nvPr/>
        </p:nvSpPr>
        <p:spPr>
          <a:xfrm>
            <a:off x="5486400" y="1874520"/>
            <a:ext cx="2103120" cy="548640"/>
          </a:xfrm>
          <a:prstGeom prst="rect">
            <a:avLst/>
          </a:prstGeom>
          <a:noFill/>
          <a:ln/>
        </p:spPr>
        <p:txBody>
          <a:bodyPr wrap="square" lIns="0" tIns="0" rIns="0" bIns="0" rtlCol="0" anchor="ctr"/>
          <a:lstStyle/>
          <a:p>
            <a:pPr marL="0" indent="0">
              <a:buNone/>
            </a:pPr>
            <a:r>
              <a:rPr lang="en-US" sz="3000" b="1" dirty="0">
                <a:solidFill>
                  <a:schemeClr val="accent6"/>
                </a:solidFill>
                <a:latin typeface="Cambria" pitchFamily="34" charset="0"/>
                <a:ea typeface="Cambria" pitchFamily="34" charset="-122"/>
                <a:cs typeface="Cambria" pitchFamily="34" charset="-120"/>
              </a:rPr>
              <a:t>RQ2</a:t>
            </a:r>
            <a:endParaRPr lang="en-US" sz="3000" dirty="0"/>
          </a:p>
        </p:txBody>
      </p:sp>
      <p:sp>
        <p:nvSpPr>
          <p:cNvPr id="13" name="Text 9"/>
          <p:cNvSpPr txBox="1"/>
          <p:nvPr/>
        </p:nvSpPr>
        <p:spPr>
          <a:xfrm>
            <a:off x="4572000" y="2788920"/>
            <a:ext cx="3017520" cy="1737360"/>
          </a:xfrm>
          <a:prstGeom prst="rect">
            <a:avLst/>
          </a:prstGeom>
          <a:noFill/>
          <a:ln/>
        </p:spPr>
        <p:txBody>
          <a:bodyPr wrap="square" lIns="0" tIns="0" rIns="0" bIns="0" rtlCol="0" anchor="t"/>
          <a:lstStyle/>
          <a:p>
            <a:pPr marL="0" indent="0">
              <a:buNone/>
            </a:pPr>
            <a:r>
              <a:rPr lang="en-US" sz="1800" dirty="0">
                <a:solidFill>
                  <a:schemeClr val="tx1"/>
                </a:solidFill>
              </a:rPr>
              <a:t>Which statistical and machine-learning methods are used, and what trade-offs do they bring?</a:t>
            </a:r>
            <a:endParaRPr lang="en-US" sz="1800" dirty="0"/>
          </a:p>
        </p:txBody>
      </p:sp>
      <p:sp>
        <p:nvSpPr>
          <p:cNvPr id="14" name="Text 10"/>
          <p:cNvSpPr txBox="1"/>
          <p:nvPr/>
        </p:nvSpPr>
        <p:spPr>
          <a:xfrm>
            <a:off x="4572000" y="4663440"/>
            <a:ext cx="1737360" cy="365760"/>
          </a:xfrm>
          <a:prstGeom prst="roundRect">
            <a:avLst>
              <a:gd name="adj" fmla="val 37500"/>
            </a:avLst>
          </a:prstGeom>
          <a:solidFill>
            <a:schemeClr val="accent2"/>
          </a:solidFill>
          <a:ln/>
        </p:spPr>
        <p:txBody>
          <a:bodyPr wrap="square" lIns="0" tIns="0" rIns="0" bIns="0" rtlCol="0" anchor="ctr"/>
          <a:lstStyle/>
          <a:p>
            <a:pPr marL="0" indent="0" algn="ctr">
              <a:buNone/>
            </a:pPr>
            <a:r>
              <a:rPr lang="en-US" sz="1200" b="1" dirty="0">
                <a:solidFill>
                  <a:schemeClr val="tx1"/>
                </a:solidFill>
              </a:rPr>
              <a:t>Methods</a:t>
            </a:r>
            <a:endParaRPr lang="en-US" sz="1200" dirty="0"/>
          </a:p>
        </p:txBody>
      </p:sp>
      <p:sp>
        <p:nvSpPr>
          <p:cNvPr id="15" name="Card"/>
          <p:cNvSpPr/>
          <p:nvPr/>
        </p:nvSpPr>
        <p:spPr>
          <a:xfrm>
            <a:off x="8046720" y="1508760"/>
            <a:ext cx="3566160" cy="3840480"/>
          </a:xfrm>
          <a:prstGeom prst="roundRect">
            <a:avLst>
              <a:gd name="adj" fmla="val 2564"/>
            </a:avLst>
          </a:prstGeom>
          <a:solidFill>
            <a:schemeClr val="bg2"/>
          </a:solidFill>
          <a:ln/>
        </p:spPr>
      </p:sp>
      <p:sp>
        <p:nvSpPr>
          <p:cNvPr id="16" name="Icon circle"/>
          <p:cNvSpPr/>
          <p:nvPr/>
        </p:nvSpPr>
        <p:spPr>
          <a:xfrm>
            <a:off x="8321040" y="1783080"/>
            <a:ext cx="731520" cy="731520"/>
          </a:xfrm>
          <a:prstGeom prst="ellipse">
            <a:avLst/>
          </a:prstGeom>
          <a:solidFill>
            <a:schemeClr val="accent6"/>
          </a:solidFill>
          <a:ln/>
        </p:spPr>
      </p:sp>
      <p:pic>
        <p:nvPicPr>
          <p:cNvPr id="17" name="Image 2" descr="ShieldAlt icon"/>
          <p:cNvPicPr>
            <a:picLocks noChangeAspect="1"/>
          </p:cNvPicPr>
          <p:nvPr/>
        </p:nvPicPr>
        <p:blipFill>
          <a:blip r:embed="rId5"/>
          <a:stretch>
            <a:fillRect/>
          </a:stretch>
        </p:blipFill>
        <p:spPr>
          <a:xfrm>
            <a:off x="8503920" y="1965960"/>
            <a:ext cx="365760" cy="365760"/>
          </a:xfrm>
          <a:prstGeom prst="rect">
            <a:avLst/>
          </a:prstGeom>
        </p:spPr>
      </p:pic>
      <p:sp>
        <p:nvSpPr>
          <p:cNvPr id="18" name="Text 13"/>
          <p:cNvSpPr txBox="1"/>
          <p:nvPr/>
        </p:nvSpPr>
        <p:spPr>
          <a:xfrm>
            <a:off x="9235440" y="1874520"/>
            <a:ext cx="2103120" cy="548640"/>
          </a:xfrm>
          <a:prstGeom prst="rect">
            <a:avLst/>
          </a:prstGeom>
          <a:noFill/>
          <a:ln/>
        </p:spPr>
        <p:txBody>
          <a:bodyPr wrap="square" lIns="0" tIns="0" rIns="0" bIns="0" rtlCol="0" anchor="ctr"/>
          <a:lstStyle/>
          <a:p>
            <a:pPr marL="0" indent="0">
              <a:buNone/>
            </a:pPr>
            <a:r>
              <a:rPr lang="en-US" sz="3000" b="1" dirty="0">
                <a:solidFill>
                  <a:schemeClr val="accent6"/>
                </a:solidFill>
                <a:latin typeface="Cambria" pitchFamily="34" charset="0"/>
                <a:ea typeface="Cambria" pitchFamily="34" charset="-122"/>
                <a:cs typeface="Cambria" pitchFamily="34" charset="-120"/>
              </a:rPr>
              <a:t>RQ3</a:t>
            </a:r>
            <a:endParaRPr lang="en-US" sz="3000" dirty="0"/>
          </a:p>
        </p:txBody>
      </p:sp>
      <p:sp>
        <p:nvSpPr>
          <p:cNvPr id="19" name="Text 14"/>
          <p:cNvSpPr txBox="1"/>
          <p:nvPr/>
        </p:nvSpPr>
        <p:spPr>
          <a:xfrm>
            <a:off x="8321040" y="2788920"/>
            <a:ext cx="3017520" cy="1737360"/>
          </a:xfrm>
          <a:prstGeom prst="rect">
            <a:avLst/>
          </a:prstGeom>
          <a:noFill/>
          <a:ln/>
        </p:spPr>
        <p:txBody>
          <a:bodyPr wrap="square" lIns="0" tIns="0" rIns="0" bIns="0" rtlCol="0" anchor="t"/>
          <a:lstStyle/>
          <a:p>
            <a:pPr marL="0" indent="0">
              <a:buNone/>
            </a:pPr>
            <a:r>
              <a:rPr lang="en-US" sz="1800" dirty="0">
                <a:solidFill>
                  <a:schemeClr val="tx1"/>
                </a:solidFill>
              </a:rPr>
              <a:t>How can prediction support early intervention while protecting privacy, fairness and agency?</a:t>
            </a:r>
            <a:endParaRPr lang="en-US" sz="1800" dirty="0"/>
          </a:p>
        </p:txBody>
      </p:sp>
      <p:sp>
        <p:nvSpPr>
          <p:cNvPr id="20" name="Text 15"/>
          <p:cNvSpPr txBox="1"/>
          <p:nvPr/>
        </p:nvSpPr>
        <p:spPr>
          <a:xfrm>
            <a:off x="8321040" y="4663440"/>
            <a:ext cx="1737360" cy="365760"/>
          </a:xfrm>
          <a:prstGeom prst="roundRect">
            <a:avLst>
              <a:gd name="adj" fmla="val 37500"/>
            </a:avLst>
          </a:prstGeom>
          <a:solidFill>
            <a:schemeClr val="accent2"/>
          </a:solidFill>
          <a:ln/>
        </p:spPr>
        <p:txBody>
          <a:bodyPr wrap="square" lIns="0" tIns="0" rIns="0" bIns="0" rtlCol="0" anchor="ctr"/>
          <a:lstStyle/>
          <a:p>
            <a:pPr marL="0" indent="0" algn="ctr">
              <a:buNone/>
            </a:pPr>
            <a:r>
              <a:rPr lang="en-US" sz="1200" b="1" dirty="0">
                <a:solidFill>
                  <a:schemeClr val="tx1"/>
                </a:solidFill>
              </a:rPr>
              <a:t>Responsible use</a:t>
            </a:r>
            <a:endParaRPr lang="en-US" sz="1200" dirty="0"/>
          </a:p>
        </p:txBody>
      </p:sp>
      <p:sp>
        <p:nvSpPr>
          <p:cNvPr id="21" name="Text 16"/>
          <p:cNvSpPr txBox="1"/>
          <p:nvPr/>
        </p:nvSpPr>
        <p:spPr>
          <a:xfrm>
            <a:off x="548640" y="5669280"/>
            <a:ext cx="11064240" cy="365760"/>
          </a:xfrm>
          <a:prstGeom prst="rect">
            <a:avLst/>
          </a:prstGeom>
          <a:noFill/>
          <a:ln/>
        </p:spPr>
        <p:txBody>
          <a:bodyPr wrap="square" lIns="0" tIns="0" rIns="0" bIns="0" rtlCol="0" anchor="t"/>
          <a:lstStyle/>
          <a:p>
            <a:pPr marL="0" indent="0">
              <a:buNone/>
            </a:pPr>
            <a:r>
              <a:rPr lang="en-US" sz="1600" i="1" dirty="0">
                <a:solidFill>
                  <a:schemeClr val="tx2"/>
                </a:solidFill>
              </a:rPr>
              <a:t>Together: what predicts outcomes, how to predict them, and how to use the result well.</a:t>
            </a:r>
            <a:endParaRPr lang="en-US" sz="1600" dirty="0"/>
          </a:p>
        </p:txBody>
      </p:sp>
      <p:sp>
        <p:nvSpPr>
          <p:cNvPr id="25" name="Slide Number Placeholder 0"/>
          <p:cNvSpPr>
            <a:spLocks noGrp="1"/>
          </p:cNvSpPr>
          <p:nvPr>
            <p:ph type="sldNum" sz="quarter" idx="4294967295"/>
          </p:nvPr>
        </p:nvSpPr>
        <p:spPr>
          <a:xfrm>
            <a:off x="11064240" y="6400800"/>
            <a:ext cx="59436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600" b="1" dirty="0">
                <a:solidFill>
                  <a:schemeClr val="tx1"/>
                </a:solidFill>
              </a:rPr>
              <a:t>Four factor families shape performance</a:t>
            </a:r>
            <a:endParaRPr lang="en-US" sz="3600" dirty="0"/>
          </a:p>
        </p:txBody>
      </p:sp>
      <p:sp>
        <p:nvSpPr>
          <p:cNvPr id="3" name="Card"/>
          <p:cNvSpPr/>
          <p:nvPr/>
        </p:nvSpPr>
        <p:spPr>
          <a:xfrm>
            <a:off x="548640" y="1417320"/>
            <a:ext cx="5394960" cy="2011680"/>
          </a:xfrm>
          <a:prstGeom prst="roundRect">
            <a:avLst>
              <a:gd name="adj" fmla="val 4545"/>
            </a:avLst>
          </a:prstGeom>
          <a:solidFill>
            <a:schemeClr val="bg2"/>
          </a:solidFill>
          <a:ln/>
        </p:spPr>
      </p:sp>
      <p:sp>
        <p:nvSpPr>
          <p:cNvPr id="4" name="Icon circle"/>
          <p:cNvSpPr/>
          <p:nvPr/>
        </p:nvSpPr>
        <p:spPr>
          <a:xfrm>
            <a:off x="822960" y="1737360"/>
            <a:ext cx="731520" cy="731520"/>
          </a:xfrm>
          <a:prstGeom prst="ellipse">
            <a:avLst/>
          </a:prstGeom>
          <a:solidFill>
            <a:schemeClr val="accent1"/>
          </a:solidFill>
          <a:ln/>
        </p:spPr>
      </p:sp>
      <p:pic>
        <p:nvPicPr>
          <p:cNvPr id="5" name="Image 0" descr="History icon"/>
          <p:cNvPicPr>
            <a:picLocks noChangeAspect="1"/>
          </p:cNvPicPr>
          <p:nvPr/>
        </p:nvPicPr>
        <p:blipFill>
          <a:blip r:embed="rId3"/>
          <a:stretch>
            <a:fillRect/>
          </a:stretch>
        </p:blipFill>
        <p:spPr>
          <a:xfrm>
            <a:off x="1005840" y="1920240"/>
            <a:ext cx="365760" cy="365760"/>
          </a:xfrm>
          <a:prstGeom prst="rect">
            <a:avLst/>
          </a:prstGeom>
        </p:spPr>
      </p:pic>
      <p:sp>
        <p:nvSpPr>
          <p:cNvPr id="6" name="Text 3"/>
          <p:cNvSpPr txBox="1"/>
          <p:nvPr/>
        </p:nvSpPr>
        <p:spPr>
          <a:xfrm>
            <a:off x="1737360" y="1737360"/>
            <a:ext cx="3200400" cy="365760"/>
          </a:xfrm>
          <a:prstGeom prst="rect">
            <a:avLst/>
          </a:prstGeom>
          <a:noFill/>
          <a:ln/>
        </p:spPr>
        <p:txBody>
          <a:bodyPr wrap="square" lIns="0" tIns="0" rIns="0" bIns="0" rtlCol="0" anchor="t"/>
          <a:lstStyle/>
          <a:p>
            <a:pPr marL="0" indent="0">
              <a:buNone/>
            </a:pPr>
            <a:r>
              <a:rPr lang="en-US" sz="2000" b="1" dirty="0">
                <a:solidFill>
                  <a:schemeClr val="tx1"/>
                </a:solidFill>
              </a:rPr>
              <a:t>Academic history</a:t>
            </a:r>
            <a:endParaRPr lang="en-US" sz="2000" dirty="0"/>
          </a:p>
        </p:txBody>
      </p:sp>
      <p:sp>
        <p:nvSpPr>
          <p:cNvPr id="7" name="Text 4"/>
          <p:cNvSpPr txBox="1"/>
          <p:nvPr/>
        </p:nvSpPr>
        <p:spPr>
          <a:xfrm>
            <a:off x="1737360" y="2194560"/>
            <a:ext cx="3017520" cy="914400"/>
          </a:xfrm>
          <a:prstGeom prst="rect">
            <a:avLst/>
          </a:prstGeom>
          <a:noFill/>
          <a:ln/>
        </p:spPr>
        <p:txBody>
          <a:bodyPr wrap="square" lIns="0" tIns="0" rIns="0" bIns="0" rtlCol="0" anchor="t"/>
          <a:lstStyle/>
          <a:p>
            <a:pPr marL="0" indent="0">
              <a:buNone/>
            </a:pPr>
            <a:r>
              <a:rPr lang="en-US" sz="1400" dirty="0">
                <a:solidFill>
                  <a:schemeClr val="tx1"/>
                </a:solidFill>
              </a:rPr>
              <a:t>Prior grades, quiz scores, assessment results</a:t>
            </a:r>
            <a:endParaRPr lang="en-US" sz="1400" dirty="0"/>
          </a:p>
        </p:txBody>
      </p:sp>
      <p:sp>
        <p:nvSpPr>
          <p:cNvPr id="8" name="Card"/>
          <p:cNvSpPr/>
          <p:nvPr/>
        </p:nvSpPr>
        <p:spPr>
          <a:xfrm>
            <a:off x="6245352" y="1417320"/>
            <a:ext cx="5394960" cy="2011680"/>
          </a:xfrm>
          <a:prstGeom prst="roundRect">
            <a:avLst>
              <a:gd name="adj" fmla="val 4545"/>
            </a:avLst>
          </a:prstGeom>
          <a:solidFill>
            <a:schemeClr val="bg2"/>
          </a:solidFill>
          <a:ln/>
        </p:spPr>
      </p:sp>
      <p:sp>
        <p:nvSpPr>
          <p:cNvPr id="9" name="Icon circle"/>
          <p:cNvSpPr/>
          <p:nvPr/>
        </p:nvSpPr>
        <p:spPr>
          <a:xfrm>
            <a:off x="6519672" y="1737360"/>
            <a:ext cx="731520" cy="731520"/>
          </a:xfrm>
          <a:prstGeom prst="ellipse">
            <a:avLst/>
          </a:prstGeom>
          <a:solidFill>
            <a:schemeClr val="accent1"/>
          </a:solidFill>
          <a:ln/>
        </p:spPr>
      </p:sp>
      <p:pic>
        <p:nvPicPr>
          <p:cNvPr id="10" name="Image 1" descr="Laptop icon"/>
          <p:cNvPicPr>
            <a:picLocks noChangeAspect="1"/>
          </p:cNvPicPr>
          <p:nvPr/>
        </p:nvPicPr>
        <p:blipFill>
          <a:blip r:embed="rId4"/>
          <a:stretch>
            <a:fillRect/>
          </a:stretch>
        </p:blipFill>
        <p:spPr>
          <a:xfrm>
            <a:off x="6702552" y="1920240"/>
            <a:ext cx="365760" cy="365760"/>
          </a:xfrm>
          <a:prstGeom prst="rect">
            <a:avLst/>
          </a:prstGeom>
        </p:spPr>
      </p:pic>
      <p:sp>
        <p:nvSpPr>
          <p:cNvPr id="11" name="Text 7"/>
          <p:cNvSpPr txBox="1"/>
          <p:nvPr/>
        </p:nvSpPr>
        <p:spPr>
          <a:xfrm>
            <a:off x="7434072" y="1737360"/>
            <a:ext cx="3200400" cy="365760"/>
          </a:xfrm>
          <a:prstGeom prst="rect">
            <a:avLst/>
          </a:prstGeom>
          <a:noFill/>
          <a:ln/>
        </p:spPr>
        <p:txBody>
          <a:bodyPr wrap="square" lIns="0" tIns="0" rIns="0" bIns="0" rtlCol="0" anchor="t"/>
          <a:lstStyle/>
          <a:p>
            <a:pPr marL="0" indent="0">
              <a:buNone/>
            </a:pPr>
            <a:r>
              <a:rPr lang="en-US" sz="2000" b="1" dirty="0">
                <a:solidFill>
                  <a:schemeClr val="tx1"/>
                </a:solidFill>
              </a:rPr>
              <a:t>Engagement and behaviour</a:t>
            </a:r>
            <a:endParaRPr lang="en-US" sz="2000" dirty="0"/>
          </a:p>
        </p:txBody>
      </p:sp>
      <p:sp>
        <p:nvSpPr>
          <p:cNvPr id="12" name="Text 8"/>
          <p:cNvSpPr txBox="1"/>
          <p:nvPr/>
        </p:nvSpPr>
        <p:spPr>
          <a:xfrm>
            <a:off x="7434072" y="2194560"/>
            <a:ext cx="3017520" cy="914400"/>
          </a:xfrm>
          <a:prstGeom prst="rect">
            <a:avLst/>
          </a:prstGeom>
          <a:noFill/>
          <a:ln/>
        </p:spPr>
        <p:txBody>
          <a:bodyPr wrap="square" lIns="0" tIns="0" rIns="0" bIns="0" rtlCol="0" anchor="t"/>
          <a:lstStyle/>
          <a:p>
            <a:pPr marL="0" indent="0">
              <a:buNone/>
            </a:pPr>
            <a:r>
              <a:rPr lang="en-US" sz="1400" dirty="0">
                <a:solidFill>
                  <a:schemeClr val="tx1"/>
                </a:solidFill>
              </a:rPr>
              <a:t>Attendance, LMS activity, video viewing, assignments</a:t>
            </a:r>
            <a:endParaRPr lang="en-US" sz="1400" dirty="0"/>
          </a:p>
        </p:txBody>
      </p:sp>
      <p:sp>
        <p:nvSpPr>
          <p:cNvPr id="13" name="Card"/>
          <p:cNvSpPr/>
          <p:nvPr/>
        </p:nvSpPr>
        <p:spPr>
          <a:xfrm>
            <a:off x="548640" y="3657600"/>
            <a:ext cx="5394960" cy="2011680"/>
          </a:xfrm>
          <a:prstGeom prst="roundRect">
            <a:avLst>
              <a:gd name="adj" fmla="val 4545"/>
            </a:avLst>
          </a:prstGeom>
          <a:solidFill>
            <a:schemeClr val="bg2"/>
          </a:solidFill>
          <a:ln/>
        </p:spPr>
      </p:sp>
      <p:sp>
        <p:nvSpPr>
          <p:cNvPr id="14" name="Icon circle"/>
          <p:cNvSpPr/>
          <p:nvPr/>
        </p:nvSpPr>
        <p:spPr>
          <a:xfrm>
            <a:off x="822960" y="3977640"/>
            <a:ext cx="731520" cy="731520"/>
          </a:xfrm>
          <a:prstGeom prst="ellipse">
            <a:avLst/>
          </a:prstGeom>
          <a:solidFill>
            <a:schemeClr val="accent1"/>
          </a:solidFill>
          <a:ln/>
        </p:spPr>
      </p:sp>
      <p:pic>
        <p:nvPicPr>
          <p:cNvPr id="15" name="Image 2" descr="Users icon"/>
          <p:cNvPicPr>
            <a:picLocks noChangeAspect="1"/>
          </p:cNvPicPr>
          <p:nvPr/>
        </p:nvPicPr>
        <p:blipFill>
          <a:blip r:embed="rId5"/>
          <a:stretch>
            <a:fillRect/>
          </a:stretch>
        </p:blipFill>
        <p:spPr>
          <a:xfrm>
            <a:off x="1005840" y="4160520"/>
            <a:ext cx="365760" cy="365760"/>
          </a:xfrm>
          <a:prstGeom prst="rect">
            <a:avLst/>
          </a:prstGeom>
        </p:spPr>
      </p:pic>
      <p:sp>
        <p:nvSpPr>
          <p:cNvPr id="16" name="Text 11"/>
          <p:cNvSpPr txBox="1"/>
          <p:nvPr/>
        </p:nvSpPr>
        <p:spPr>
          <a:xfrm>
            <a:off x="1737360" y="3977640"/>
            <a:ext cx="3200400" cy="365760"/>
          </a:xfrm>
          <a:prstGeom prst="rect">
            <a:avLst/>
          </a:prstGeom>
          <a:noFill/>
          <a:ln/>
        </p:spPr>
        <p:txBody>
          <a:bodyPr wrap="square" lIns="0" tIns="0" rIns="0" bIns="0" rtlCol="0" anchor="t"/>
          <a:lstStyle/>
          <a:p>
            <a:pPr marL="0" indent="0">
              <a:buNone/>
            </a:pPr>
            <a:r>
              <a:rPr lang="en-US" sz="2000" b="1" dirty="0">
                <a:solidFill>
                  <a:schemeClr val="tx1"/>
                </a:solidFill>
              </a:rPr>
              <a:t>Learner and social context</a:t>
            </a:r>
            <a:endParaRPr lang="en-US" sz="2000" dirty="0"/>
          </a:p>
        </p:txBody>
      </p:sp>
      <p:sp>
        <p:nvSpPr>
          <p:cNvPr id="17" name="Text 12"/>
          <p:cNvSpPr txBox="1"/>
          <p:nvPr/>
        </p:nvSpPr>
        <p:spPr>
          <a:xfrm>
            <a:off x="1737360" y="4434840"/>
            <a:ext cx="3017520" cy="914400"/>
          </a:xfrm>
          <a:prstGeom prst="rect">
            <a:avLst/>
          </a:prstGeom>
          <a:noFill/>
          <a:ln/>
        </p:spPr>
        <p:txBody>
          <a:bodyPr wrap="square" lIns="0" tIns="0" rIns="0" bIns="0" rtlCol="0" anchor="t"/>
          <a:lstStyle/>
          <a:p>
            <a:pPr marL="0" indent="0">
              <a:buNone/>
            </a:pPr>
            <a:r>
              <a:rPr lang="en-US" sz="1400" dirty="0">
                <a:solidFill>
                  <a:schemeClr val="tx1"/>
                </a:solidFill>
              </a:rPr>
              <a:t>Motivation, self-efficacy, social support</a:t>
            </a:r>
            <a:endParaRPr lang="en-US" sz="1400" dirty="0"/>
          </a:p>
        </p:txBody>
      </p:sp>
      <p:sp>
        <p:nvSpPr>
          <p:cNvPr id="18" name="Card"/>
          <p:cNvSpPr/>
          <p:nvPr/>
        </p:nvSpPr>
        <p:spPr>
          <a:xfrm>
            <a:off x="6245352" y="3657600"/>
            <a:ext cx="5394960" cy="2011680"/>
          </a:xfrm>
          <a:prstGeom prst="roundRect">
            <a:avLst>
              <a:gd name="adj" fmla="val 4545"/>
            </a:avLst>
          </a:prstGeom>
          <a:solidFill>
            <a:schemeClr val="bg2"/>
          </a:solidFill>
          <a:ln/>
        </p:spPr>
      </p:sp>
      <p:sp>
        <p:nvSpPr>
          <p:cNvPr id="19" name="Icon circle"/>
          <p:cNvSpPr/>
          <p:nvPr/>
        </p:nvSpPr>
        <p:spPr>
          <a:xfrm>
            <a:off x="6519672" y="3977640"/>
            <a:ext cx="731520" cy="731520"/>
          </a:xfrm>
          <a:prstGeom prst="ellipse">
            <a:avLst/>
          </a:prstGeom>
          <a:solidFill>
            <a:schemeClr val="accent1"/>
          </a:solidFill>
          <a:ln/>
        </p:spPr>
      </p:sp>
      <p:pic>
        <p:nvPicPr>
          <p:cNvPr id="20" name="Image 3" descr="Wifi icon"/>
          <p:cNvPicPr>
            <a:picLocks noChangeAspect="1"/>
          </p:cNvPicPr>
          <p:nvPr/>
        </p:nvPicPr>
        <p:blipFill>
          <a:blip r:embed="rId6"/>
          <a:stretch>
            <a:fillRect/>
          </a:stretch>
        </p:blipFill>
        <p:spPr>
          <a:xfrm>
            <a:off x="6702552" y="4160520"/>
            <a:ext cx="365760" cy="365760"/>
          </a:xfrm>
          <a:prstGeom prst="rect">
            <a:avLst/>
          </a:prstGeom>
        </p:spPr>
      </p:pic>
      <p:sp>
        <p:nvSpPr>
          <p:cNvPr id="21" name="Text 15"/>
          <p:cNvSpPr txBox="1"/>
          <p:nvPr/>
        </p:nvSpPr>
        <p:spPr>
          <a:xfrm>
            <a:off x="7434072" y="3977640"/>
            <a:ext cx="3200400" cy="365760"/>
          </a:xfrm>
          <a:prstGeom prst="rect">
            <a:avLst/>
          </a:prstGeom>
          <a:noFill/>
          <a:ln/>
        </p:spPr>
        <p:txBody>
          <a:bodyPr wrap="square" lIns="0" tIns="0" rIns="0" bIns="0" rtlCol="0" anchor="t"/>
          <a:lstStyle/>
          <a:p>
            <a:pPr marL="0" indent="0">
              <a:buNone/>
            </a:pPr>
            <a:r>
              <a:rPr lang="en-US" sz="2000" b="1" dirty="0">
                <a:solidFill>
                  <a:schemeClr val="tx1"/>
                </a:solidFill>
              </a:rPr>
              <a:t>Environment and access</a:t>
            </a:r>
            <a:endParaRPr lang="en-US" sz="2000" dirty="0"/>
          </a:p>
        </p:txBody>
      </p:sp>
      <p:sp>
        <p:nvSpPr>
          <p:cNvPr id="22" name="Text 16"/>
          <p:cNvSpPr txBox="1"/>
          <p:nvPr/>
        </p:nvSpPr>
        <p:spPr>
          <a:xfrm>
            <a:off x="7434072" y="4434840"/>
            <a:ext cx="3017520" cy="914400"/>
          </a:xfrm>
          <a:prstGeom prst="rect">
            <a:avLst/>
          </a:prstGeom>
          <a:noFill/>
          <a:ln/>
        </p:spPr>
        <p:txBody>
          <a:bodyPr wrap="square" lIns="0" tIns="0" rIns="0" bIns="0" rtlCol="0" anchor="t"/>
          <a:lstStyle/>
          <a:p>
            <a:pPr marL="0" indent="0">
              <a:buNone/>
            </a:pPr>
            <a:r>
              <a:rPr lang="en-US" sz="1400" dirty="0">
                <a:solidFill>
                  <a:schemeClr val="tx1"/>
                </a:solidFill>
              </a:rPr>
              <a:t>Connectivity, learning resources</a:t>
            </a:r>
            <a:endParaRPr lang="en-US" sz="1400" dirty="0"/>
          </a:p>
        </p:txBody>
      </p:sp>
      <p:sp>
        <p:nvSpPr>
          <p:cNvPr id="23" name="Center node"/>
          <p:cNvSpPr/>
          <p:nvPr/>
        </p:nvSpPr>
        <p:spPr>
          <a:xfrm>
            <a:off x="5321808" y="2743200"/>
            <a:ext cx="1554480" cy="1554480"/>
          </a:xfrm>
          <a:prstGeom prst="ellipse">
            <a:avLst/>
          </a:prstGeom>
          <a:solidFill>
            <a:schemeClr val="accent6"/>
          </a:solidFill>
          <a:ln w="50800">
            <a:solidFill>
              <a:schemeClr val="bg1"/>
            </a:solidFill>
            <a:prstDash val="solid"/>
          </a:ln>
        </p:spPr>
      </p:sp>
      <p:sp>
        <p:nvSpPr>
          <p:cNvPr id="24" name="Text 18"/>
          <p:cNvSpPr txBox="1"/>
          <p:nvPr/>
        </p:nvSpPr>
        <p:spPr>
          <a:xfrm>
            <a:off x="5413248" y="3017520"/>
            <a:ext cx="1371600" cy="1005840"/>
          </a:xfrm>
          <a:prstGeom prst="rect">
            <a:avLst/>
          </a:prstGeom>
          <a:noFill/>
          <a:ln/>
        </p:spPr>
        <p:txBody>
          <a:bodyPr wrap="square" lIns="0" tIns="0" rIns="0" bIns="0" rtlCol="0" anchor="ctr"/>
          <a:lstStyle/>
          <a:p>
            <a:pPr marL="0" indent="0" algn="ctr">
              <a:buNone/>
            </a:pPr>
            <a:r>
              <a:rPr lang="en-US" sz="1400" b="1" dirty="0">
                <a:solidFill>
                  <a:schemeClr val="bg1"/>
                </a:solidFill>
              </a:rPr>
              <a:t>Academic performance</a:t>
            </a:r>
            <a:endParaRPr lang="en-US" sz="1400" dirty="0"/>
          </a:p>
        </p:txBody>
      </p:sp>
      <p:sp>
        <p:nvSpPr>
          <p:cNvPr id="25" name="Text 19"/>
          <p:cNvSpPr txBox="1"/>
          <p:nvPr/>
        </p:nvSpPr>
        <p:spPr>
          <a:xfrm>
            <a:off x="548640" y="5943600"/>
            <a:ext cx="11064240" cy="320040"/>
          </a:xfrm>
          <a:prstGeom prst="rect">
            <a:avLst/>
          </a:prstGeom>
          <a:noFill/>
          <a:ln/>
        </p:spPr>
        <p:txBody>
          <a:bodyPr wrap="square" lIns="0" tIns="0" rIns="0" bIns="0" rtlCol="0" anchor="t"/>
          <a:lstStyle/>
          <a:p>
            <a:pPr marL="0" indent="0">
              <a:buNone/>
            </a:pPr>
            <a:r>
              <a:rPr lang="en-US" sz="1400" i="1" dirty="0">
                <a:solidFill>
                  <a:schemeClr val="tx2"/>
                </a:solidFill>
              </a:rPr>
              <a:t>Read these as associations reported in particular studies, not universal causes of success.</a:t>
            </a:r>
            <a:endParaRPr lang="en-US" sz="1400" dirty="0"/>
          </a:p>
        </p:txBody>
      </p:sp>
      <p:sp>
        <p:nvSpPr>
          <p:cNvPr id="26" name="Slide Number Placeholder 0"/>
          <p:cNvSpPr>
            <a:spLocks noGrp="1"/>
          </p:cNvSpPr>
          <p:nvPr>
            <p:ph type="sldNum" sz="quarter" idx="4294967295"/>
          </p:nvPr>
        </p:nvSpPr>
        <p:spPr>
          <a:xfrm>
            <a:off x="11064240" y="6400800"/>
            <a:ext cx="59436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600" b="1" dirty="0">
                <a:solidFill>
                  <a:schemeClr val="tx1"/>
                </a:solidFill>
              </a:rPr>
              <a:t>Timing decides what a feature is worth</a:t>
            </a:r>
            <a:endParaRPr lang="en-US" sz="3600" dirty="0"/>
          </a:p>
        </p:txBody>
      </p:sp>
      <p:sp>
        <p:nvSpPr>
          <p:cNvPr id="3" name="Shape 1"/>
          <p:cNvSpPr/>
          <p:nvPr/>
        </p:nvSpPr>
        <p:spPr>
          <a:xfrm>
            <a:off x="1737360" y="2514600"/>
            <a:ext cx="8503920" cy="0"/>
          </a:xfrm>
          <a:prstGeom prst="line">
            <a:avLst/>
          </a:prstGeom>
          <a:noFill/>
          <a:ln w="38100">
            <a:solidFill>
              <a:schemeClr val="tx2"/>
            </a:solidFill>
            <a:prstDash val="solid"/>
          </a:ln>
        </p:spPr>
      </p:sp>
      <p:sp>
        <p:nvSpPr>
          <p:cNvPr id="4" name="Milestone 1"/>
          <p:cNvSpPr/>
          <p:nvPr/>
        </p:nvSpPr>
        <p:spPr>
          <a:xfrm>
            <a:off x="1508760" y="2286000"/>
            <a:ext cx="457200" cy="457200"/>
          </a:xfrm>
          <a:prstGeom prst="ellipse">
            <a:avLst/>
          </a:prstGeom>
          <a:solidFill>
            <a:schemeClr val="accent6"/>
          </a:solidFill>
          <a:ln w="38100">
            <a:solidFill>
              <a:schemeClr val="bg1"/>
            </a:solidFill>
            <a:prstDash val="solid"/>
          </a:ln>
        </p:spPr>
      </p:sp>
      <p:sp>
        <p:nvSpPr>
          <p:cNvPr id="5" name="Text 3"/>
          <p:cNvSpPr txBox="1"/>
          <p:nvPr/>
        </p:nvSpPr>
        <p:spPr>
          <a:xfrm>
            <a:off x="457200" y="1600200"/>
            <a:ext cx="2560320" cy="365760"/>
          </a:xfrm>
          <a:prstGeom prst="rect">
            <a:avLst/>
          </a:prstGeom>
          <a:noFill/>
          <a:ln/>
        </p:spPr>
        <p:txBody>
          <a:bodyPr wrap="square" lIns="0" tIns="0" rIns="0" bIns="0" rtlCol="0" anchor="t"/>
          <a:lstStyle/>
          <a:p>
            <a:pPr marL="0" indent="0" algn="ctr">
              <a:buNone/>
            </a:pPr>
            <a:r>
              <a:rPr lang="en-US" sz="1600" b="1" dirty="0">
                <a:solidFill>
                  <a:schemeClr val="tx1"/>
                </a:solidFill>
              </a:rPr>
              <a:t>Course start</a:t>
            </a:r>
            <a:endParaRPr lang="en-US" sz="1600" dirty="0"/>
          </a:p>
        </p:txBody>
      </p:sp>
      <p:sp>
        <p:nvSpPr>
          <p:cNvPr id="6" name="Text 4"/>
          <p:cNvSpPr txBox="1"/>
          <p:nvPr/>
        </p:nvSpPr>
        <p:spPr>
          <a:xfrm>
            <a:off x="457200" y="2880360"/>
            <a:ext cx="2560320" cy="457200"/>
          </a:xfrm>
          <a:prstGeom prst="rect">
            <a:avLst/>
          </a:prstGeom>
          <a:noFill/>
          <a:ln/>
        </p:spPr>
        <p:txBody>
          <a:bodyPr wrap="square" lIns="0" tIns="0" rIns="0" bIns="0" rtlCol="0" anchor="t"/>
          <a:lstStyle/>
          <a:p>
            <a:pPr marL="0" indent="0" algn="ctr">
              <a:buNone/>
            </a:pPr>
            <a:r>
              <a:rPr lang="en-US" sz="1200" dirty="0">
                <a:solidFill>
                  <a:schemeClr val="tx2"/>
                </a:solidFill>
              </a:rPr>
              <a:t>Attendance, early quizzes</a:t>
            </a:r>
            <a:endParaRPr lang="en-US" sz="1200" dirty="0"/>
          </a:p>
        </p:txBody>
      </p:sp>
      <p:sp>
        <p:nvSpPr>
          <p:cNvPr id="7" name="Milestone 2"/>
          <p:cNvSpPr/>
          <p:nvPr/>
        </p:nvSpPr>
        <p:spPr>
          <a:xfrm>
            <a:off x="4343400" y="2286000"/>
            <a:ext cx="457200" cy="457200"/>
          </a:xfrm>
          <a:prstGeom prst="ellipse">
            <a:avLst/>
          </a:prstGeom>
          <a:solidFill>
            <a:schemeClr val="accent6"/>
          </a:solidFill>
          <a:ln w="38100">
            <a:solidFill>
              <a:schemeClr val="bg1"/>
            </a:solidFill>
            <a:prstDash val="solid"/>
          </a:ln>
        </p:spPr>
      </p:sp>
      <p:sp>
        <p:nvSpPr>
          <p:cNvPr id="8" name="Text 6"/>
          <p:cNvSpPr txBox="1"/>
          <p:nvPr/>
        </p:nvSpPr>
        <p:spPr>
          <a:xfrm>
            <a:off x="3291840" y="1600200"/>
            <a:ext cx="2560320" cy="365760"/>
          </a:xfrm>
          <a:prstGeom prst="rect">
            <a:avLst/>
          </a:prstGeom>
          <a:noFill/>
          <a:ln/>
        </p:spPr>
        <p:txBody>
          <a:bodyPr wrap="square" lIns="0" tIns="0" rIns="0" bIns="0" rtlCol="0" anchor="t"/>
          <a:lstStyle/>
          <a:p>
            <a:pPr marL="0" indent="0" algn="ctr">
              <a:buNone/>
            </a:pPr>
            <a:r>
              <a:rPr lang="en-US" sz="1600" b="1" dirty="0">
                <a:solidFill>
                  <a:schemeClr val="tx1"/>
                </a:solidFill>
              </a:rPr>
              <a:t>Mid-course</a:t>
            </a:r>
            <a:endParaRPr lang="en-US" sz="1600" dirty="0"/>
          </a:p>
        </p:txBody>
      </p:sp>
      <p:sp>
        <p:nvSpPr>
          <p:cNvPr id="9" name="Text 7"/>
          <p:cNvSpPr txBox="1"/>
          <p:nvPr/>
        </p:nvSpPr>
        <p:spPr>
          <a:xfrm>
            <a:off x="3291840" y="2880360"/>
            <a:ext cx="2560320" cy="457200"/>
          </a:xfrm>
          <a:prstGeom prst="rect">
            <a:avLst/>
          </a:prstGeom>
          <a:noFill/>
          <a:ln/>
        </p:spPr>
        <p:txBody>
          <a:bodyPr wrap="square" lIns="0" tIns="0" rIns="0" bIns="0" rtlCol="0" anchor="t"/>
          <a:lstStyle/>
          <a:p>
            <a:pPr marL="0" indent="0" algn="ctr">
              <a:buNone/>
            </a:pPr>
            <a:r>
              <a:rPr lang="en-US" sz="1200" dirty="0">
                <a:solidFill>
                  <a:schemeClr val="tx2"/>
                </a:solidFill>
              </a:rPr>
              <a:t>LMS activity, homework, video viewing</a:t>
            </a:r>
            <a:endParaRPr lang="en-US" sz="1200" dirty="0"/>
          </a:p>
        </p:txBody>
      </p:sp>
      <p:sp>
        <p:nvSpPr>
          <p:cNvPr id="10" name="Milestone 3"/>
          <p:cNvSpPr/>
          <p:nvPr/>
        </p:nvSpPr>
        <p:spPr>
          <a:xfrm>
            <a:off x="7178040" y="2286000"/>
            <a:ext cx="457200" cy="457200"/>
          </a:xfrm>
          <a:prstGeom prst="ellipse">
            <a:avLst/>
          </a:prstGeom>
          <a:solidFill>
            <a:schemeClr val="accent3"/>
          </a:solidFill>
          <a:ln w="38100">
            <a:solidFill>
              <a:schemeClr val="bg1"/>
            </a:solidFill>
            <a:prstDash val="solid"/>
          </a:ln>
        </p:spPr>
      </p:sp>
      <p:sp>
        <p:nvSpPr>
          <p:cNvPr id="11" name="Text 9"/>
          <p:cNvSpPr txBox="1"/>
          <p:nvPr/>
        </p:nvSpPr>
        <p:spPr>
          <a:xfrm>
            <a:off x="6126480" y="1600200"/>
            <a:ext cx="2560320" cy="365760"/>
          </a:xfrm>
          <a:prstGeom prst="rect">
            <a:avLst/>
          </a:prstGeom>
          <a:noFill/>
          <a:ln/>
        </p:spPr>
        <p:txBody>
          <a:bodyPr wrap="square" lIns="0" tIns="0" rIns="0" bIns="0" rtlCol="0" anchor="t"/>
          <a:lstStyle/>
          <a:p>
            <a:pPr marL="0" indent="0" algn="ctr">
              <a:buNone/>
            </a:pPr>
            <a:r>
              <a:rPr lang="en-US" sz="1600" b="1" dirty="0">
                <a:solidFill>
                  <a:schemeClr val="tx1"/>
                </a:solidFill>
              </a:rPr>
              <a:t>Final exam</a:t>
            </a:r>
            <a:endParaRPr lang="en-US" sz="1600" dirty="0"/>
          </a:p>
        </p:txBody>
      </p:sp>
      <p:sp>
        <p:nvSpPr>
          <p:cNvPr id="12" name="Text 10"/>
          <p:cNvSpPr txBox="1"/>
          <p:nvPr/>
        </p:nvSpPr>
        <p:spPr>
          <a:xfrm>
            <a:off x="6126480" y="2880360"/>
            <a:ext cx="2560320" cy="457200"/>
          </a:xfrm>
          <a:prstGeom prst="rect">
            <a:avLst/>
          </a:prstGeom>
          <a:noFill/>
          <a:ln/>
        </p:spPr>
        <p:txBody>
          <a:bodyPr wrap="square" lIns="0" tIns="0" rIns="0" bIns="0" rtlCol="0" anchor="t"/>
          <a:lstStyle/>
          <a:p>
            <a:pPr marL="0" indent="0" algn="ctr">
              <a:buNone/>
            </a:pPr>
            <a:r>
              <a:rPr lang="en-US" sz="1200" dirty="0">
                <a:solidFill>
                  <a:schemeClr val="tx2"/>
                </a:solidFill>
              </a:rPr>
              <a:t>Outcome occurs</a:t>
            </a:r>
            <a:endParaRPr lang="en-US" sz="1200" dirty="0"/>
          </a:p>
        </p:txBody>
      </p:sp>
      <p:sp>
        <p:nvSpPr>
          <p:cNvPr id="13" name="Milestone 4"/>
          <p:cNvSpPr/>
          <p:nvPr/>
        </p:nvSpPr>
        <p:spPr>
          <a:xfrm>
            <a:off x="10012680" y="2286000"/>
            <a:ext cx="457200" cy="457200"/>
          </a:xfrm>
          <a:prstGeom prst="ellipse">
            <a:avLst/>
          </a:prstGeom>
          <a:solidFill>
            <a:schemeClr val="accent3"/>
          </a:solidFill>
          <a:ln w="38100">
            <a:solidFill>
              <a:schemeClr val="bg1"/>
            </a:solidFill>
            <a:prstDash val="solid"/>
          </a:ln>
        </p:spPr>
      </p:sp>
      <p:sp>
        <p:nvSpPr>
          <p:cNvPr id="14" name="Text 12"/>
          <p:cNvSpPr txBox="1"/>
          <p:nvPr/>
        </p:nvSpPr>
        <p:spPr>
          <a:xfrm>
            <a:off x="8961120" y="1600200"/>
            <a:ext cx="2560320" cy="365760"/>
          </a:xfrm>
          <a:prstGeom prst="rect">
            <a:avLst/>
          </a:prstGeom>
          <a:noFill/>
          <a:ln/>
        </p:spPr>
        <p:txBody>
          <a:bodyPr wrap="square" lIns="0" tIns="0" rIns="0" bIns="0" rtlCol="0" anchor="t"/>
          <a:lstStyle/>
          <a:p>
            <a:pPr marL="0" indent="0" algn="ctr">
              <a:buNone/>
            </a:pPr>
            <a:r>
              <a:rPr lang="en-US" sz="1600" b="1" dirty="0">
                <a:solidFill>
                  <a:schemeClr val="tx1"/>
                </a:solidFill>
              </a:rPr>
              <a:t>Final grade</a:t>
            </a:r>
            <a:endParaRPr lang="en-US" sz="1600" dirty="0"/>
          </a:p>
        </p:txBody>
      </p:sp>
      <p:sp>
        <p:nvSpPr>
          <p:cNvPr id="15" name="Text 13"/>
          <p:cNvSpPr txBox="1"/>
          <p:nvPr/>
        </p:nvSpPr>
        <p:spPr>
          <a:xfrm>
            <a:off x="8961120" y="2880360"/>
            <a:ext cx="2560320" cy="457200"/>
          </a:xfrm>
          <a:prstGeom prst="rect">
            <a:avLst/>
          </a:prstGeom>
          <a:noFill/>
          <a:ln/>
        </p:spPr>
        <p:txBody>
          <a:bodyPr wrap="square" lIns="0" tIns="0" rIns="0" bIns="0" rtlCol="0" anchor="t"/>
          <a:lstStyle/>
          <a:p>
            <a:pPr marL="0" indent="0" algn="ctr">
              <a:buNone/>
            </a:pPr>
            <a:r>
              <a:rPr lang="en-US" sz="1200" dirty="0">
                <a:solidFill>
                  <a:schemeClr val="tx2"/>
                </a:solidFill>
              </a:rPr>
              <a:t>Outcome recorded</a:t>
            </a:r>
            <a:endParaRPr lang="en-US" sz="1200" dirty="0"/>
          </a:p>
        </p:txBody>
      </p:sp>
      <p:sp>
        <p:nvSpPr>
          <p:cNvPr id="16" name="Text 14"/>
          <p:cNvSpPr txBox="1"/>
          <p:nvPr/>
        </p:nvSpPr>
        <p:spPr>
          <a:xfrm>
            <a:off x="1737360" y="3520440"/>
            <a:ext cx="5669280" cy="457200"/>
          </a:xfrm>
          <a:prstGeom prst="roundRect">
            <a:avLst>
              <a:gd name="adj" fmla="val 20000"/>
            </a:avLst>
          </a:prstGeom>
          <a:solidFill>
            <a:schemeClr val="accent6"/>
          </a:solidFill>
          <a:ln/>
        </p:spPr>
        <p:txBody>
          <a:bodyPr wrap="square" lIns="0" tIns="0" rIns="0" bIns="0" rtlCol="0" anchor="ctr"/>
          <a:lstStyle/>
          <a:p>
            <a:pPr marL="0" indent="0" algn="ctr">
              <a:buNone/>
            </a:pPr>
            <a:r>
              <a:rPr lang="en-US" sz="1400" b="1" dirty="0">
                <a:solidFill>
                  <a:schemeClr val="bg1"/>
                </a:solidFill>
              </a:rPr>
              <a:t>Usable for early warning</a:t>
            </a:r>
            <a:endParaRPr lang="en-US" sz="1400" dirty="0"/>
          </a:p>
        </p:txBody>
      </p:sp>
      <p:sp>
        <p:nvSpPr>
          <p:cNvPr id="17" name="Text 15"/>
          <p:cNvSpPr txBox="1"/>
          <p:nvPr/>
        </p:nvSpPr>
        <p:spPr>
          <a:xfrm>
            <a:off x="7498080" y="3520440"/>
            <a:ext cx="2743200" cy="457200"/>
          </a:xfrm>
          <a:prstGeom prst="roundRect">
            <a:avLst>
              <a:gd name="adj" fmla="val 20000"/>
            </a:avLst>
          </a:prstGeom>
          <a:solidFill>
            <a:schemeClr val="accent3"/>
          </a:solidFill>
          <a:ln/>
        </p:spPr>
        <p:txBody>
          <a:bodyPr wrap="square" lIns="0" tIns="0" rIns="0" bIns="0" rtlCol="0" anchor="ctr"/>
          <a:lstStyle/>
          <a:p>
            <a:pPr marL="0" indent="0" algn="ctr">
              <a:buNone/>
            </a:pPr>
            <a:r>
              <a:rPr lang="en-US" sz="1400" b="1" dirty="0">
                <a:solidFill>
                  <a:schemeClr val="bg1"/>
                </a:solidFill>
              </a:rPr>
              <a:t>Leakage risk</a:t>
            </a:r>
            <a:endParaRPr lang="en-US" sz="1400" dirty="0"/>
          </a:p>
        </p:txBody>
      </p:sp>
      <p:sp>
        <p:nvSpPr>
          <p:cNvPr id="18" name="Card"/>
          <p:cNvSpPr/>
          <p:nvPr/>
        </p:nvSpPr>
        <p:spPr>
          <a:xfrm>
            <a:off x="548640" y="4343400"/>
            <a:ext cx="3566160" cy="1691640"/>
          </a:xfrm>
          <a:prstGeom prst="roundRect">
            <a:avLst>
              <a:gd name="adj" fmla="val 5405"/>
            </a:avLst>
          </a:prstGeom>
          <a:solidFill>
            <a:schemeClr val="bg2"/>
          </a:solidFill>
          <a:ln/>
        </p:spPr>
      </p:sp>
      <p:sp>
        <p:nvSpPr>
          <p:cNvPr id="19" name="Text 17"/>
          <p:cNvSpPr txBox="1"/>
          <p:nvPr/>
        </p:nvSpPr>
        <p:spPr>
          <a:xfrm>
            <a:off x="822960" y="4526280"/>
            <a:ext cx="3017520" cy="365760"/>
          </a:xfrm>
          <a:prstGeom prst="rect">
            <a:avLst/>
          </a:prstGeom>
          <a:noFill/>
          <a:ln/>
        </p:spPr>
        <p:txBody>
          <a:bodyPr wrap="square" lIns="0" tIns="0" rIns="0" bIns="0" rtlCol="0" anchor="t"/>
          <a:lstStyle/>
          <a:p>
            <a:pPr marL="0" indent="0">
              <a:buNone/>
            </a:pPr>
            <a:r>
              <a:rPr lang="en-US" sz="1800" b="1" dirty="0">
                <a:solidFill>
                  <a:schemeClr val="accent6"/>
                </a:solidFill>
              </a:rPr>
              <a:t>Prior achievement</a:t>
            </a:r>
            <a:endParaRPr lang="en-US" sz="1800" dirty="0"/>
          </a:p>
        </p:txBody>
      </p:sp>
      <p:sp>
        <p:nvSpPr>
          <p:cNvPr id="20" name="Text 18"/>
          <p:cNvSpPr txBox="1"/>
          <p:nvPr/>
        </p:nvSpPr>
        <p:spPr>
          <a:xfrm>
            <a:off x="822960" y="4937760"/>
            <a:ext cx="3017520" cy="1005840"/>
          </a:xfrm>
          <a:prstGeom prst="rect">
            <a:avLst/>
          </a:prstGeom>
          <a:noFill/>
          <a:ln/>
        </p:spPr>
        <p:txBody>
          <a:bodyPr wrap="square" lIns="0" tIns="0" rIns="0" bIns="0" rtlCol="0" anchor="t"/>
          <a:lstStyle/>
          <a:p>
            <a:pPr marL="0" indent="0">
              <a:buNone/>
            </a:pPr>
            <a:r>
              <a:rPr lang="en-US" sz="1400" dirty="0">
                <a:solidFill>
                  <a:schemeClr val="tx1"/>
                </a:solidFill>
              </a:rPr>
              <a:t>Grades and assessment results recur as useful indicators.</a:t>
            </a:r>
            <a:endParaRPr lang="en-US" sz="1400" dirty="0"/>
          </a:p>
        </p:txBody>
      </p:sp>
      <p:sp>
        <p:nvSpPr>
          <p:cNvPr id="21" name="Card"/>
          <p:cNvSpPr/>
          <p:nvPr/>
        </p:nvSpPr>
        <p:spPr>
          <a:xfrm>
            <a:off x="4297680" y="4343400"/>
            <a:ext cx="3566160" cy="1691640"/>
          </a:xfrm>
          <a:prstGeom prst="roundRect">
            <a:avLst>
              <a:gd name="adj" fmla="val 5405"/>
            </a:avLst>
          </a:prstGeom>
          <a:solidFill>
            <a:schemeClr val="bg2"/>
          </a:solidFill>
          <a:ln/>
        </p:spPr>
      </p:sp>
      <p:sp>
        <p:nvSpPr>
          <p:cNvPr id="22" name="Text 20"/>
          <p:cNvSpPr txBox="1"/>
          <p:nvPr/>
        </p:nvSpPr>
        <p:spPr>
          <a:xfrm>
            <a:off x="4572000" y="4526280"/>
            <a:ext cx="3017520" cy="365760"/>
          </a:xfrm>
          <a:prstGeom prst="rect">
            <a:avLst/>
          </a:prstGeom>
          <a:noFill/>
          <a:ln/>
        </p:spPr>
        <p:txBody>
          <a:bodyPr wrap="square" lIns="0" tIns="0" rIns="0" bIns="0" rtlCol="0" anchor="t"/>
          <a:lstStyle/>
          <a:p>
            <a:pPr marL="0" indent="0">
              <a:buNone/>
            </a:pPr>
            <a:r>
              <a:rPr lang="en-US" sz="1800" b="1" dirty="0">
                <a:solidFill>
                  <a:schemeClr val="accent6"/>
                </a:solidFill>
              </a:rPr>
              <a:t>Online engagement</a:t>
            </a:r>
            <a:endParaRPr lang="en-US" sz="1800" dirty="0"/>
          </a:p>
        </p:txBody>
      </p:sp>
      <p:sp>
        <p:nvSpPr>
          <p:cNvPr id="23" name="Text 21"/>
          <p:cNvSpPr txBox="1"/>
          <p:nvPr/>
        </p:nvSpPr>
        <p:spPr>
          <a:xfrm>
            <a:off x="4572000" y="4937760"/>
            <a:ext cx="3017520" cy="1005840"/>
          </a:xfrm>
          <a:prstGeom prst="rect">
            <a:avLst/>
          </a:prstGeom>
          <a:noFill/>
          <a:ln/>
        </p:spPr>
        <p:txBody>
          <a:bodyPr wrap="square" lIns="0" tIns="0" rIns="0" bIns="0" rtlCol="0" anchor="t"/>
          <a:lstStyle/>
          <a:p>
            <a:pPr marL="0" indent="0">
              <a:buNone/>
            </a:pPr>
            <a:r>
              <a:rPr lang="en-US" sz="1400" dirty="0">
                <a:solidFill>
                  <a:schemeClr val="tx1"/>
                </a:solidFill>
              </a:rPr>
              <a:t>Activity in virtual learning environments can signal trouble earlier than final grades.</a:t>
            </a:r>
            <a:endParaRPr lang="en-US" sz="1400" dirty="0"/>
          </a:p>
        </p:txBody>
      </p:sp>
      <p:sp>
        <p:nvSpPr>
          <p:cNvPr id="24" name="Card"/>
          <p:cNvSpPr/>
          <p:nvPr/>
        </p:nvSpPr>
        <p:spPr>
          <a:xfrm>
            <a:off x="8046720" y="4343400"/>
            <a:ext cx="3566160" cy="1691640"/>
          </a:xfrm>
          <a:prstGeom prst="roundRect">
            <a:avLst>
              <a:gd name="adj" fmla="val 5405"/>
            </a:avLst>
          </a:prstGeom>
          <a:solidFill>
            <a:schemeClr val="bg2"/>
          </a:solidFill>
          <a:ln/>
        </p:spPr>
      </p:sp>
      <p:sp>
        <p:nvSpPr>
          <p:cNvPr id="25" name="Text 23"/>
          <p:cNvSpPr txBox="1"/>
          <p:nvPr/>
        </p:nvSpPr>
        <p:spPr>
          <a:xfrm>
            <a:off x="8321040" y="4526280"/>
            <a:ext cx="3017520" cy="365760"/>
          </a:xfrm>
          <a:prstGeom prst="rect">
            <a:avLst/>
          </a:prstGeom>
          <a:noFill/>
          <a:ln/>
        </p:spPr>
        <p:txBody>
          <a:bodyPr wrap="square" lIns="0" tIns="0" rIns="0" bIns="0" rtlCol="0" anchor="t"/>
          <a:lstStyle/>
          <a:p>
            <a:pPr marL="0" indent="0">
              <a:buNone/>
            </a:pPr>
            <a:r>
              <a:rPr lang="en-US" sz="1800" b="1" dirty="0">
                <a:solidFill>
                  <a:schemeClr val="accent3"/>
                </a:solidFill>
              </a:rPr>
              <a:t>The leakage trap</a:t>
            </a:r>
            <a:endParaRPr lang="en-US" sz="1800" dirty="0"/>
          </a:p>
        </p:txBody>
      </p:sp>
      <p:sp>
        <p:nvSpPr>
          <p:cNvPr id="26" name="Text 24"/>
          <p:cNvSpPr txBox="1"/>
          <p:nvPr/>
        </p:nvSpPr>
        <p:spPr>
          <a:xfrm>
            <a:off x="8321040" y="4937760"/>
            <a:ext cx="3017520" cy="1005840"/>
          </a:xfrm>
          <a:prstGeom prst="rect">
            <a:avLst/>
          </a:prstGeom>
          <a:noFill/>
          <a:ln/>
        </p:spPr>
        <p:txBody>
          <a:bodyPr wrap="square" lIns="0" tIns="0" rIns="0" bIns="0" rtlCol="0" anchor="t"/>
          <a:lstStyle/>
          <a:p>
            <a:pPr marL="0" indent="0">
              <a:buNone/>
            </a:pPr>
            <a:r>
              <a:rPr lang="en-US" sz="1400" dirty="0">
                <a:solidFill>
                  <a:schemeClr val="tx1"/>
                </a:solidFill>
              </a:rPr>
              <a:t>A variable recorded after the outcome inflates apparent accuracy.</a:t>
            </a:r>
            <a:endParaRPr lang="en-US" sz="1400" dirty="0"/>
          </a:p>
        </p:txBody>
      </p:sp>
      <p:sp>
        <p:nvSpPr>
          <p:cNvPr id="27" name="Slide Number Placeholder 0"/>
          <p:cNvSpPr>
            <a:spLocks noGrp="1"/>
          </p:cNvSpPr>
          <p:nvPr>
            <p:ph type="sldNum" sz="quarter" idx="4294967295"/>
          </p:nvPr>
        </p:nvSpPr>
        <p:spPr>
          <a:xfrm>
            <a:off x="11064240" y="6400800"/>
            <a:ext cx="59436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600" b="1" dirty="0">
                <a:solidFill>
                  <a:schemeClr val="tx1"/>
                </a:solidFill>
              </a:rPr>
              <a:t>Evidence varies by context and design</a:t>
            </a:r>
            <a:endParaRPr lang="en-US" sz="3600" dirty="0"/>
          </a:p>
        </p:txBody>
      </p:sp>
      <p:sp>
        <p:nvSpPr>
          <p:cNvPr id="3" name="Card"/>
          <p:cNvSpPr/>
          <p:nvPr/>
        </p:nvSpPr>
        <p:spPr>
          <a:xfrm>
            <a:off x="548640" y="1463040"/>
            <a:ext cx="2651760" cy="3749040"/>
          </a:xfrm>
          <a:prstGeom prst="roundRect">
            <a:avLst>
              <a:gd name="adj" fmla="val 3448"/>
            </a:avLst>
          </a:prstGeom>
          <a:solidFill>
            <a:schemeClr val="bg2"/>
          </a:solidFill>
          <a:ln/>
        </p:spPr>
      </p:sp>
      <p:sp>
        <p:nvSpPr>
          <p:cNvPr id="4" name="Text 2"/>
          <p:cNvSpPr txBox="1"/>
          <p:nvPr/>
        </p:nvSpPr>
        <p:spPr>
          <a:xfrm>
            <a:off x="777240" y="1645920"/>
            <a:ext cx="2194560" cy="685800"/>
          </a:xfrm>
          <a:prstGeom prst="rect">
            <a:avLst/>
          </a:prstGeom>
          <a:noFill/>
          <a:ln/>
        </p:spPr>
        <p:txBody>
          <a:bodyPr wrap="square" lIns="0" tIns="0" rIns="0" bIns="0" rtlCol="0" anchor="ctr"/>
          <a:lstStyle/>
          <a:p>
            <a:pPr marL="0" indent="0">
              <a:buNone/>
            </a:pPr>
            <a:r>
              <a:rPr lang="en-US" sz="3600" b="1" dirty="0">
                <a:solidFill>
                  <a:schemeClr val="accent6"/>
                </a:solidFill>
                <a:latin typeface="Cambria" pitchFamily="34" charset="0"/>
                <a:ea typeface="Cambria" pitchFamily="34" charset="-122"/>
                <a:cs typeface="Cambria" pitchFamily="34" charset="-120"/>
              </a:rPr>
              <a:t>62</a:t>
            </a:r>
            <a:endParaRPr lang="en-US" sz="3600" dirty="0"/>
          </a:p>
        </p:txBody>
      </p:sp>
      <p:sp>
        <p:nvSpPr>
          <p:cNvPr id="5" name="Text 3"/>
          <p:cNvSpPr txBox="1"/>
          <p:nvPr/>
        </p:nvSpPr>
        <p:spPr>
          <a:xfrm>
            <a:off x="777240" y="2377440"/>
            <a:ext cx="2194560" cy="320040"/>
          </a:xfrm>
          <a:prstGeom prst="rect">
            <a:avLst/>
          </a:prstGeom>
          <a:noFill/>
          <a:ln/>
        </p:spPr>
        <p:txBody>
          <a:bodyPr wrap="square" lIns="0" tIns="0" rIns="0" bIns="0" rtlCol="0" anchor="t"/>
          <a:lstStyle/>
          <a:p>
            <a:pPr marL="0" indent="0">
              <a:buNone/>
            </a:pPr>
            <a:r>
              <a:rPr lang="en-US" sz="1400" b="1" dirty="0">
                <a:solidFill>
                  <a:schemeClr val="accent1"/>
                </a:solidFill>
              </a:rPr>
              <a:t>studies reviewed</a:t>
            </a:r>
            <a:endParaRPr lang="en-US" sz="1400" dirty="0"/>
          </a:p>
        </p:txBody>
      </p:sp>
      <p:sp>
        <p:nvSpPr>
          <p:cNvPr id="6" name="Text 4"/>
          <p:cNvSpPr txBox="1"/>
          <p:nvPr/>
        </p:nvSpPr>
        <p:spPr>
          <a:xfrm>
            <a:off x="777240" y="2834640"/>
            <a:ext cx="2194560" cy="1645920"/>
          </a:xfrm>
          <a:prstGeom prst="rect">
            <a:avLst/>
          </a:prstGeom>
          <a:noFill/>
          <a:ln/>
        </p:spPr>
        <p:txBody>
          <a:bodyPr wrap="square" lIns="0" tIns="0" rIns="0" bIns="0" rtlCol="0" anchor="t"/>
          <a:lstStyle/>
          <a:p>
            <a:pPr marL="0" indent="0">
              <a:buNone/>
            </a:pPr>
            <a:r>
              <a:rPr lang="en-US" sz="1400" dirty="0">
                <a:solidFill>
                  <a:schemeClr val="tx1"/>
                </a:solidFill>
              </a:rPr>
              <a:t>Online learning activity, assessment grades and academic emotions were evident predictors.</a:t>
            </a:r>
            <a:endParaRPr lang="en-US" sz="1400" dirty="0"/>
          </a:p>
        </p:txBody>
      </p:sp>
      <p:sp>
        <p:nvSpPr>
          <p:cNvPr id="7" name="Text 5"/>
          <p:cNvSpPr txBox="1"/>
          <p:nvPr/>
        </p:nvSpPr>
        <p:spPr>
          <a:xfrm>
            <a:off x="777240" y="4663440"/>
            <a:ext cx="2194560" cy="365760"/>
          </a:xfrm>
          <a:prstGeom prst="rect">
            <a:avLst/>
          </a:prstGeom>
          <a:noFill/>
          <a:ln/>
        </p:spPr>
        <p:txBody>
          <a:bodyPr wrap="square" lIns="0" tIns="0" rIns="0" bIns="0" rtlCol="0" anchor="t"/>
          <a:lstStyle/>
          <a:p>
            <a:pPr marL="0" indent="0">
              <a:buNone/>
            </a:pPr>
            <a:r>
              <a:rPr lang="en-US" sz="1200" dirty="0">
                <a:solidFill>
                  <a:schemeClr val="tx2"/>
                </a:solidFill>
              </a:rPr>
              <a:t>Namoun &amp; Alshanqiti [1]</a:t>
            </a:r>
            <a:endParaRPr lang="en-US" sz="1200" dirty="0"/>
          </a:p>
        </p:txBody>
      </p:sp>
      <p:sp>
        <p:nvSpPr>
          <p:cNvPr id="8" name="Card"/>
          <p:cNvSpPr/>
          <p:nvPr/>
        </p:nvSpPr>
        <p:spPr>
          <a:xfrm>
            <a:off x="3355848" y="1463040"/>
            <a:ext cx="2651760" cy="3749040"/>
          </a:xfrm>
          <a:prstGeom prst="roundRect">
            <a:avLst>
              <a:gd name="adj" fmla="val 3448"/>
            </a:avLst>
          </a:prstGeom>
          <a:solidFill>
            <a:schemeClr val="bg2"/>
          </a:solidFill>
          <a:ln/>
        </p:spPr>
      </p:sp>
      <p:sp>
        <p:nvSpPr>
          <p:cNvPr id="9" name="Text 7"/>
          <p:cNvSpPr txBox="1"/>
          <p:nvPr/>
        </p:nvSpPr>
        <p:spPr>
          <a:xfrm>
            <a:off x="3584448" y="1645920"/>
            <a:ext cx="2194560" cy="685800"/>
          </a:xfrm>
          <a:prstGeom prst="rect">
            <a:avLst/>
          </a:prstGeom>
          <a:noFill/>
          <a:ln/>
        </p:spPr>
        <p:txBody>
          <a:bodyPr wrap="square" lIns="0" tIns="0" rIns="0" bIns="0" rtlCol="0" anchor="ctr"/>
          <a:lstStyle/>
          <a:p>
            <a:pPr marL="0" indent="0">
              <a:buNone/>
            </a:pPr>
            <a:r>
              <a:rPr lang="en-US" sz="3600" b="1" dirty="0">
                <a:solidFill>
                  <a:schemeClr val="accent6"/>
                </a:solidFill>
                <a:latin typeface="Cambria" pitchFamily="34" charset="0"/>
                <a:ea typeface="Cambria" pitchFamily="34" charset="-122"/>
                <a:cs typeface="Cambria" pitchFamily="34" charset="-120"/>
              </a:rPr>
              <a:t>84–93%</a:t>
            </a:r>
            <a:endParaRPr lang="en-US" sz="3600" dirty="0"/>
          </a:p>
        </p:txBody>
      </p:sp>
      <p:sp>
        <p:nvSpPr>
          <p:cNvPr id="10" name="Text 8"/>
          <p:cNvSpPr txBox="1"/>
          <p:nvPr/>
        </p:nvSpPr>
        <p:spPr>
          <a:xfrm>
            <a:off x="3584448" y="2377440"/>
            <a:ext cx="2194560" cy="320040"/>
          </a:xfrm>
          <a:prstGeom prst="rect">
            <a:avLst/>
          </a:prstGeom>
          <a:noFill/>
          <a:ln/>
        </p:spPr>
        <p:txBody>
          <a:bodyPr wrap="square" lIns="0" tIns="0" rIns="0" bIns="0" rtlCol="0" anchor="t"/>
          <a:lstStyle/>
          <a:p>
            <a:pPr marL="0" indent="0">
              <a:buNone/>
            </a:pPr>
            <a:r>
              <a:rPr lang="en-US" sz="1400" b="1" dirty="0">
                <a:solidFill>
                  <a:schemeClr val="accent1"/>
                </a:solidFill>
              </a:rPr>
              <a:t>accuracy, deep network</a:t>
            </a:r>
            <a:endParaRPr lang="en-US" sz="1400" dirty="0"/>
          </a:p>
        </p:txBody>
      </p:sp>
      <p:sp>
        <p:nvSpPr>
          <p:cNvPr id="11" name="Text 9"/>
          <p:cNvSpPr txBox="1"/>
          <p:nvPr/>
        </p:nvSpPr>
        <p:spPr>
          <a:xfrm>
            <a:off x="3584448" y="2834640"/>
            <a:ext cx="2194560" cy="1645920"/>
          </a:xfrm>
          <a:prstGeom prst="rect">
            <a:avLst/>
          </a:prstGeom>
          <a:noFill/>
          <a:ln/>
        </p:spPr>
        <p:txBody>
          <a:bodyPr wrap="square" lIns="0" tIns="0" rIns="0" bIns="0" rtlCol="0" anchor="t"/>
          <a:lstStyle/>
          <a:p>
            <a:pPr marL="0" indent="0">
              <a:buNone/>
            </a:pPr>
            <a:r>
              <a:rPr lang="en-US" sz="1400" dirty="0">
                <a:solidFill>
                  <a:schemeClr val="tx1"/>
                </a:solidFill>
              </a:rPr>
              <a:t>Clickstream data from a virtual learning environment; the range depends on model and configuration.</a:t>
            </a:r>
            <a:endParaRPr lang="en-US" sz="1400" dirty="0"/>
          </a:p>
        </p:txBody>
      </p:sp>
      <p:sp>
        <p:nvSpPr>
          <p:cNvPr id="12" name="Text 10"/>
          <p:cNvSpPr txBox="1"/>
          <p:nvPr/>
        </p:nvSpPr>
        <p:spPr>
          <a:xfrm>
            <a:off x="3584448" y="4663440"/>
            <a:ext cx="2194560" cy="365760"/>
          </a:xfrm>
          <a:prstGeom prst="rect">
            <a:avLst/>
          </a:prstGeom>
          <a:noFill/>
          <a:ln/>
        </p:spPr>
        <p:txBody>
          <a:bodyPr wrap="square" lIns="0" tIns="0" rIns="0" bIns="0" rtlCol="0" anchor="t"/>
          <a:lstStyle/>
          <a:p>
            <a:pPr marL="0" indent="0">
              <a:buNone/>
            </a:pPr>
            <a:r>
              <a:rPr lang="en-US" sz="1200" dirty="0">
                <a:solidFill>
                  <a:schemeClr val="tx2"/>
                </a:solidFill>
              </a:rPr>
              <a:t>Waheed et al. [4]</a:t>
            </a:r>
            <a:endParaRPr lang="en-US" sz="1200" dirty="0"/>
          </a:p>
        </p:txBody>
      </p:sp>
      <p:sp>
        <p:nvSpPr>
          <p:cNvPr id="13" name="Card"/>
          <p:cNvSpPr/>
          <p:nvPr/>
        </p:nvSpPr>
        <p:spPr>
          <a:xfrm>
            <a:off x="6163056" y="1463040"/>
            <a:ext cx="2651760" cy="3749040"/>
          </a:xfrm>
          <a:prstGeom prst="roundRect">
            <a:avLst>
              <a:gd name="adj" fmla="val 3448"/>
            </a:avLst>
          </a:prstGeom>
          <a:solidFill>
            <a:schemeClr val="bg2"/>
          </a:solidFill>
          <a:ln/>
        </p:spPr>
      </p:sp>
      <p:sp>
        <p:nvSpPr>
          <p:cNvPr id="14" name="Text 12"/>
          <p:cNvSpPr txBox="1"/>
          <p:nvPr/>
        </p:nvSpPr>
        <p:spPr>
          <a:xfrm>
            <a:off x="6391656" y="1645920"/>
            <a:ext cx="2194560" cy="685800"/>
          </a:xfrm>
          <a:prstGeom prst="rect">
            <a:avLst/>
          </a:prstGeom>
          <a:noFill/>
          <a:ln/>
        </p:spPr>
        <p:txBody>
          <a:bodyPr wrap="square" lIns="0" tIns="0" rIns="0" bIns="0" rtlCol="0" anchor="ctr"/>
          <a:lstStyle/>
          <a:p>
            <a:pPr marL="0" indent="0">
              <a:buNone/>
            </a:pPr>
            <a:r>
              <a:rPr lang="en-US" sz="3600" b="1" dirty="0">
                <a:solidFill>
                  <a:schemeClr val="accent6"/>
                </a:solidFill>
                <a:latin typeface="Cambria" pitchFamily="34" charset="0"/>
                <a:ea typeface="Cambria" pitchFamily="34" charset="-122"/>
                <a:cs typeface="Cambria" pitchFamily="34" charset="-120"/>
              </a:rPr>
              <a:t>Blended</a:t>
            </a:r>
            <a:endParaRPr lang="en-US" sz="3600" dirty="0"/>
          </a:p>
        </p:txBody>
      </p:sp>
      <p:sp>
        <p:nvSpPr>
          <p:cNvPr id="15" name="Text 13"/>
          <p:cNvSpPr txBox="1"/>
          <p:nvPr/>
        </p:nvSpPr>
        <p:spPr>
          <a:xfrm>
            <a:off x="6391656" y="2377440"/>
            <a:ext cx="2194560" cy="320040"/>
          </a:xfrm>
          <a:prstGeom prst="rect">
            <a:avLst/>
          </a:prstGeom>
          <a:noFill/>
          <a:ln/>
        </p:spPr>
        <p:txBody>
          <a:bodyPr wrap="square" lIns="0" tIns="0" rIns="0" bIns="0" rtlCol="0" anchor="t"/>
          <a:lstStyle/>
          <a:p>
            <a:pPr marL="0" indent="0">
              <a:buNone/>
            </a:pPr>
            <a:r>
              <a:rPr lang="en-US" sz="1400" b="1" dirty="0">
                <a:solidFill>
                  <a:schemeClr val="accent1"/>
                </a:solidFill>
              </a:rPr>
              <a:t>Calculus course</a:t>
            </a:r>
            <a:endParaRPr lang="en-US" sz="1400" dirty="0"/>
          </a:p>
        </p:txBody>
      </p:sp>
      <p:sp>
        <p:nvSpPr>
          <p:cNvPr id="16" name="Text 14"/>
          <p:cNvSpPr txBox="1"/>
          <p:nvPr/>
        </p:nvSpPr>
        <p:spPr>
          <a:xfrm>
            <a:off x="6391656" y="2834640"/>
            <a:ext cx="2194560" cy="1645920"/>
          </a:xfrm>
          <a:prstGeom prst="rect">
            <a:avLst/>
          </a:prstGeom>
          <a:noFill/>
          <a:ln/>
        </p:spPr>
        <p:txBody>
          <a:bodyPr wrap="square" lIns="0" tIns="0" rIns="0" bIns="0" rtlCol="0" anchor="t"/>
          <a:lstStyle/>
          <a:p>
            <a:pPr marL="0" indent="0">
              <a:buNone/>
            </a:pPr>
            <a:r>
              <a:rPr lang="en-US" sz="1400" dirty="0">
                <a:solidFill>
                  <a:schemeClr val="tx1"/>
                </a:solidFill>
              </a:rPr>
              <a:t>Video viewing, out-of-class practice, homework and quizzes supported early prediction.</a:t>
            </a:r>
            <a:endParaRPr lang="en-US" sz="1400" dirty="0"/>
          </a:p>
        </p:txBody>
      </p:sp>
      <p:sp>
        <p:nvSpPr>
          <p:cNvPr id="17" name="Text 15"/>
          <p:cNvSpPr txBox="1"/>
          <p:nvPr/>
        </p:nvSpPr>
        <p:spPr>
          <a:xfrm>
            <a:off x="6391656" y="4663440"/>
            <a:ext cx="2194560" cy="365760"/>
          </a:xfrm>
          <a:prstGeom prst="rect">
            <a:avLst/>
          </a:prstGeom>
          <a:noFill/>
          <a:ln/>
        </p:spPr>
        <p:txBody>
          <a:bodyPr wrap="square" lIns="0" tIns="0" rIns="0" bIns="0" rtlCol="0" anchor="t"/>
          <a:lstStyle/>
          <a:p>
            <a:pPr marL="0" indent="0">
              <a:buNone/>
            </a:pPr>
            <a:r>
              <a:rPr lang="en-US" sz="1200" dirty="0">
                <a:solidFill>
                  <a:schemeClr val="tx2"/>
                </a:solidFill>
              </a:rPr>
              <a:t>Lu et al. [3]</a:t>
            </a:r>
            <a:endParaRPr lang="en-US" sz="1200" dirty="0"/>
          </a:p>
        </p:txBody>
      </p:sp>
      <p:sp>
        <p:nvSpPr>
          <p:cNvPr id="18" name="Card"/>
          <p:cNvSpPr/>
          <p:nvPr/>
        </p:nvSpPr>
        <p:spPr>
          <a:xfrm>
            <a:off x="8970264" y="1463040"/>
            <a:ext cx="2651760" cy="3749040"/>
          </a:xfrm>
          <a:prstGeom prst="roundRect">
            <a:avLst>
              <a:gd name="adj" fmla="val 3448"/>
            </a:avLst>
          </a:prstGeom>
          <a:solidFill>
            <a:schemeClr val="bg2"/>
          </a:solidFill>
          <a:ln/>
        </p:spPr>
      </p:sp>
      <p:sp>
        <p:nvSpPr>
          <p:cNvPr id="19" name="Text 17"/>
          <p:cNvSpPr txBox="1"/>
          <p:nvPr/>
        </p:nvSpPr>
        <p:spPr>
          <a:xfrm>
            <a:off x="9198864" y="1645920"/>
            <a:ext cx="2194560" cy="685800"/>
          </a:xfrm>
          <a:prstGeom prst="rect">
            <a:avLst/>
          </a:prstGeom>
          <a:noFill/>
          <a:ln/>
        </p:spPr>
        <p:txBody>
          <a:bodyPr wrap="square" lIns="0" tIns="0" rIns="0" bIns="0" rtlCol="0" anchor="ctr"/>
          <a:lstStyle/>
          <a:p>
            <a:pPr marL="0" indent="0">
              <a:buNone/>
            </a:pPr>
            <a:r>
              <a:rPr lang="en-US" sz="3600" b="1" dirty="0">
                <a:solidFill>
                  <a:schemeClr val="accent6"/>
                </a:solidFill>
                <a:latin typeface="Cambria" pitchFamily="34" charset="0"/>
                <a:ea typeface="Cambria" pitchFamily="34" charset="-122"/>
                <a:cs typeface="Cambria" pitchFamily="34" charset="-120"/>
              </a:rPr>
              <a:t>PISA</a:t>
            </a:r>
            <a:endParaRPr lang="en-US" sz="3600" dirty="0"/>
          </a:p>
        </p:txBody>
      </p:sp>
      <p:sp>
        <p:nvSpPr>
          <p:cNvPr id="20" name="Text 18"/>
          <p:cNvSpPr txBox="1"/>
          <p:nvPr/>
        </p:nvSpPr>
        <p:spPr>
          <a:xfrm>
            <a:off x="9198864" y="2377440"/>
            <a:ext cx="2194560" cy="320040"/>
          </a:xfrm>
          <a:prstGeom prst="rect">
            <a:avLst/>
          </a:prstGeom>
          <a:noFill/>
          <a:ln/>
        </p:spPr>
        <p:txBody>
          <a:bodyPr wrap="square" lIns="0" tIns="0" rIns="0" bIns="0" rtlCol="0" anchor="t"/>
          <a:lstStyle/>
          <a:p>
            <a:pPr marL="0" indent="0">
              <a:buNone/>
            </a:pPr>
            <a:r>
              <a:rPr lang="en-US" sz="1400" b="1" dirty="0">
                <a:solidFill>
                  <a:schemeClr val="accent1"/>
                </a:solidFill>
              </a:rPr>
              <a:t>large international dataset</a:t>
            </a:r>
            <a:endParaRPr lang="en-US" sz="1400" dirty="0"/>
          </a:p>
        </p:txBody>
      </p:sp>
      <p:sp>
        <p:nvSpPr>
          <p:cNvPr id="21" name="Text 19"/>
          <p:cNvSpPr txBox="1"/>
          <p:nvPr/>
        </p:nvSpPr>
        <p:spPr>
          <a:xfrm>
            <a:off x="9198864" y="2834640"/>
            <a:ext cx="2194560" cy="1645920"/>
          </a:xfrm>
          <a:prstGeom prst="rect">
            <a:avLst/>
          </a:prstGeom>
          <a:noFill/>
          <a:ln/>
        </p:spPr>
        <p:txBody>
          <a:bodyPr wrap="square" lIns="0" tIns="0" rIns="0" bIns="0" rtlCol="0" anchor="t"/>
          <a:lstStyle/>
          <a:p>
            <a:pPr marL="0" indent="0">
              <a:buNone/>
            </a:pPr>
            <a:r>
              <a:rPr lang="en-US" sz="1400" dirty="0">
                <a:solidFill>
                  <a:schemeClr val="tx1"/>
                </a:solidFill>
              </a:rPr>
              <a:t>Several machine-learning algorithms compared for predicting student performance.</a:t>
            </a:r>
            <a:endParaRPr lang="en-US" sz="1400" dirty="0"/>
          </a:p>
        </p:txBody>
      </p:sp>
      <p:sp>
        <p:nvSpPr>
          <p:cNvPr id="22" name="Text 20"/>
          <p:cNvSpPr txBox="1"/>
          <p:nvPr/>
        </p:nvSpPr>
        <p:spPr>
          <a:xfrm>
            <a:off x="9198864" y="4663440"/>
            <a:ext cx="2194560" cy="365760"/>
          </a:xfrm>
          <a:prstGeom prst="rect">
            <a:avLst/>
          </a:prstGeom>
          <a:noFill/>
          <a:ln/>
        </p:spPr>
        <p:txBody>
          <a:bodyPr wrap="square" lIns="0" tIns="0" rIns="0" bIns="0" rtlCol="0" anchor="t"/>
          <a:lstStyle/>
          <a:p>
            <a:pPr marL="0" indent="0">
              <a:buNone/>
            </a:pPr>
            <a:r>
              <a:rPr lang="en-US" sz="1200" dirty="0">
                <a:solidFill>
                  <a:schemeClr val="tx2"/>
                </a:solidFill>
              </a:rPr>
              <a:t>Ting et al. [5]</a:t>
            </a:r>
            <a:endParaRPr lang="en-US" sz="1200" dirty="0"/>
          </a:p>
        </p:txBody>
      </p:sp>
      <p:sp>
        <p:nvSpPr>
          <p:cNvPr id="23" name="Icon circle"/>
          <p:cNvSpPr/>
          <p:nvPr/>
        </p:nvSpPr>
        <p:spPr>
          <a:xfrm>
            <a:off x="548640" y="5486400"/>
            <a:ext cx="548640" cy="548640"/>
          </a:xfrm>
          <a:prstGeom prst="ellipse">
            <a:avLst/>
          </a:prstGeom>
          <a:solidFill>
            <a:schemeClr val="accent2"/>
          </a:solidFill>
          <a:ln/>
        </p:spPr>
      </p:sp>
      <p:pic>
        <p:nvPicPr>
          <p:cNvPr id="24" name="Image 0" descr="ExclamationTriangle icon"/>
          <p:cNvPicPr>
            <a:picLocks noChangeAspect="1"/>
          </p:cNvPicPr>
          <p:nvPr/>
        </p:nvPicPr>
        <p:blipFill>
          <a:blip r:embed="rId3"/>
          <a:stretch>
            <a:fillRect/>
          </a:stretch>
        </p:blipFill>
        <p:spPr>
          <a:xfrm>
            <a:off x="685800" y="5623560"/>
            <a:ext cx="274320" cy="274320"/>
          </a:xfrm>
          <a:prstGeom prst="rect">
            <a:avLst/>
          </a:prstGeom>
        </p:spPr>
      </p:pic>
      <p:sp>
        <p:nvSpPr>
          <p:cNvPr id="25" name="Text 22"/>
          <p:cNvSpPr txBox="1"/>
          <p:nvPr/>
        </p:nvSpPr>
        <p:spPr>
          <a:xfrm>
            <a:off x="1280160" y="5486400"/>
            <a:ext cx="10332720" cy="548640"/>
          </a:xfrm>
          <a:prstGeom prst="rect">
            <a:avLst/>
          </a:prstGeom>
          <a:noFill/>
          <a:ln/>
        </p:spPr>
        <p:txBody>
          <a:bodyPr wrap="square" lIns="0" tIns="0" rIns="0" bIns="0" rtlCol="0" anchor="ctr"/>
          <a:lstStyle/>
          <a:p>
            <a:pPr marL="0" indent="0">
              <a:buNone/>
            </a:pPr>
            <a:r>
              <a:rPr lang="en-US" sz="1600" dirty="0">
                <a:solidFill>
                  <a:schemeClr val="tx1"/>
                </a:solidFill>
              </a:rPr>
              <a:t>Datasets and evaluation designs differ. Read these as context for each study, not as a ranking of methods.</a:t>
            </a:r>
            <a:endParaRPr lang="en-US" sz="1600" dirty="0"/>
          </a:p>
        </p:txBody>
      </p:sp>
      <p:sp>
        <p:nvSpPr>
          <p:cNvPr id="26" name="Slide Number Placeholder 0"/>
          <p:cNvSpPr>
            <a:spLocks noGrp="1"/>
          </p:cNvSpPr>
          <p:nvPr>
            <p:ph type="sldNum" sz="quarter" idx="4294967295"/>
          </p:nvPr>
        </p:nvSpPr>
        <p:spPr>
          <a:xfrm>
            <a:off x="11064240" y="6400800"/>
            <a:ext cx="59436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600" b="1" dirty="0">
                <a:solidFill>
                  <a:schemeClr val="tx1"/>
                </a:solidFill>
              </a:rPr>
              <a:t>Every model trades power for clarity</a:t>
            </a:r>
            <a:endParaRPr lang="en-US" sz="3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301752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457200">
                <a:tc>
                  <a:txBody>
                    <a:bodyPr/>
                    <a:lstStyle/>
                    <a:p>
                      <a:pPr marL="0" indent="0">
                        <a:buNone/>
                      </a:pPr>
                      <a:r>
                        <a:rPr lang="en-US" sz="1400" b="1" dirty="0">
                          <a:solidFill>
                            <a:schemeClr val="bg1"/>
                          </a:solidFill>
                        </a:rPr>
                        <a:t>Model family</a:t>
                      </a:r>
                      <a:endParaRPr lang="en-US" sz="1400" dirty="0"/>
                    </a:p>
                  </a:txBody>
                  <a:tcPr marL="109728" marR="109728" marT="0" marB="0" anchor="ctr">
                    <a:lnL w="6350" cap="flat" cmpd="sng" algn="ctr">
                      <a:solidFill>
                        <a:srgbClr val="D5E0E4"/>
                      </a:solidFill>
                      <a:prstDash val="solid"/>
                      <a:round/>
                      <a:headEnd type="none" w="med" len="med"/>
                      <a:tailEnd type="none" w="med" len="med"/>
                    </a:lnL>
                    <a:lnR w="6350" cap="flat" cmpd="sng" algn="ctr">
                      <a:solidFill>
                        <a:srgbClr val="D5E0E4"/>
                      </a:solidFill>
                      <a:prstDash val="solid"/>
                      <a:round/>
                      <a:headEnd type="none" w="med" len="med"/>
                      <a:tailEnd type="none" w="med" len="med"/>
                    </a:lnR>
                    <a:lnT w="6350" cap="flat" cmpd="sng" algn="ctr">
                      <a:solidFill>
                        <a:srgbClr val="D5E0E4"/>
                      </a:solidFill>
                      <a:prstDash val="solid"/>
                      <a:round/>
                      <a:headEnd type="none" w="med" len="med"/>
                      <a:tailEnd type="none" w="med" len="med"/>
                    </a:lnT>
                    <a:lnB w="6350" cap="flat" cmpd="sng" algn="ctr">
                      <a:solidFill>
                        <a:srgbClr val="D5E0E4"/>
                      </a:solidFill>
                      <a:prstDash val="solid"/>
                      <a:round/>
                      <a:headEnd type="none" w="med" len="med"/>
                      <a:tailEnd type="none" w="med" len="med"/>
                    </a:lnB>
                    <a:solidFill>
                      <a:schemeClr val="accent6"/>
                    </a:solidFill>
                  </a:tcPr>
                </a:tc>
                <a:tc>
                  <a:txBody>
                    <a:bodyPr/>
                    <a:lstStyle/>
                    <a:p>
                      <a:pPr marL="0" indent="0">
                        <a:buNone/>
                      </a:pPr>
                      <a:r>
                        <a:rPr lang="en-US" sz="1400" b="1" dirty="0">
                          <a:solidFill>
                            <a:schemeClr val="bg1"/>
                          </a:solidFill>
                        </a:rPr>
                        <a:t>Potential strengths</a:t>
                      </a:r>
                      <a:endParaRPr lang="en-US" sz="1400" dirty="0"/>
                    </a:p>
                  </a:txBody>
                  <a:tcPr marL="109728" marR="109728" marT="0" marB="0" anchor="ctr">
                    <a:lnL w="6350" cap="flat" cmpd="sng" algn="ctr">
                      <a:solidFill>
                        <a:srgbClr val="D5E0E4"/>
                      </a:solidFill>
                      <a:prstDash val="solid"/>
                      <a:round/>
                      <a:headEnd type="none" w="med" len="med"/>
                      <a:tailEnd type="none" w="med" len="med"/>
                    </a:lnL>
                    <a:lnR w="6350" cap="flat" cmpd="sng" algn="ctr">
                      <a:solidFill>
                        <a:srgbClr val="D5E0E4"/>
                      </a:solidFill>
                      <a:prstDash val="solid"/>
                      <a:round/>
                      <a:headEnd type="none" w="med" len="med"/>
                      <a:tailEnd type="none" w="med" len="med"/>
                    </a:lnR>
                    <a:lnT w="6350" cap="flat" cmpd="sng" algn="ctr">
                      <a:solidFill>
                        <a:srgbClr val="D5E0E4"/>
                      </a:solidFill>
                      <a:prstDash val="solid"/>
                      <a:round/>
                      <a:headEnd type="none" w="med" len="med"/>
                      <a:tailEnd type="none" w="med" len="med"/>
                    </a:lnT>
                    <a:lnB w="6350" cap="flat" cmpd="sng" algn="ctr">
                      <a:solidFill>
                        <a:srgbClr val="D5E0E4"/>
                      </a:solidFill>
                      <a:prstDash val="solid"/>
                      <a:round/>
                      <a:headEnd type="none" w="med" len="med"/>
                      <a:tailEnd type="none" w="med" len="med"/>
                    </a:lnB>
                    <a:solidFill>
                      <a:schemeClr val="accent6"/>
                    </a:solidFill>
                  </a:tcPr>
                </a:tc>
                <a:tc>
                  <a:txBody>
                    <a:bodyPr/>
                    <a:lstStyle/>
                    <a:p>
                      <a:pPr marL="0" indent="0">
                        <a:buNone/>
                      </a:pPr>
                      <a:r>
                        <a:rPr lang="en-US" sz="1400" b="1" dirty="0">
                          <a:solidFill>
                            <a:schemeClr val="bg1"/>
                          </a:solidFill>
                        </a:rPr>
                        <a:t>Important cautions</a:t>
                      </a:r>
                      <a:endParaRPr lang="en-US" sz="1400" dirty="0"/>
                    </a:p>
                  </a:txBody>
                  <a:tcPr marL="109728" marR="109728" marT="0" marB="0" anchor="ctr">
                    <a:lnL w="6350" cap="flat" cmpd="sng" algn="ctr">
                      <a:solidFill>
                        <a:srgbClr val="D5E0E4"/>
                      </a:solidFill>
                      <a:prstDash val="solid"/>
                      <a:round/>
                      <a:headEnd type="none" w="med" len="med"/>
                      <a:tailEnd type="none" w="med" len="med"/>
                    </a:lnL>
                    <a:lnR w="6350" cap="flat" cmpd="sng" algn="ctr">
                      <a:solidFill>
                        <a:srgbClr val="D5E0E4"/>
                      </a:solidFill>
                      <a:prstDash val="solid"/>
                      <a:round/>
                      <a:headEnd type="none" w="med" len="med"/>
                      <a:tailEnd type="none" w="med" len="med"/>
                    </a:lnR>
                    <a:lnT w="6350" cap="flat" cmpd="sng" algn="ctr">
                      <a:solidFill>
                        <a:srgbClr val="D5E0E4"/>
                      </a:solidFill>
                      <a:prstDash val="solid"/>
                      <a:round/>
                      <a:headEnd type="none" w="med" len="med"/>
                      <a:tailEnd type="none" w="med" len="med"/>
                    </a:lnT>
                    <a:lnB w="6350" cap="flat" cmpd="sng" algn="ctr">
                      <a:solidFill>
                        <a:srgbClr val="D5E0E4"/>
                      </a:solidFill>
                      <a:prstDash val="solid"/>
                      <a:round/>
                      <a:headEnd type="none" w="med" len="med"/>
                      <a:tailEnd type="none" w="med" len="med"/>
                    </a:lnB>
                    <a:solidFill>
                      <a:schemeClr val="accent6"/>
                    </a:solidFill>
                  </a:tcPr>
                </a:tc>
                <a:extLst>
                  <a:ext uri="{0D108BD9-81ED-4DB2-BD59-A6C34878D82A}">
                    <a16:rowId xmlns:a16="http://schemas.microsoft.com/office/drawing/2014/main" val="10000"/>
                  </a:ext>
                </a:extLst>
              </a:tr>
              <a:tr h="566928">
                <a:tc>
                  <a:txBody>
                    <a:bodyPr/>
                    <a:lstStyle/>
                    <a:p>
                      <a:pPr marL="0" indent="0">
                        <a:buNone/>
                      </a:pPr>
                      <a:r>
                        <a:rPr lang="en-US" sz="1400" b="1" dirty="0">
                          <a:solidFill>
                            <a:schemeClr val="tx1"/>
                          </a:solidFill>
                        </a:rPr>
                        <a:t>Logistic / linear regression</a:t>
                      </a:r>
                      <a:endParaRPr lang="en-US" sz="1400" dirty="0"/>
                    </a:p>
                  </a:txBody>
                  <a:tcPr marL="109728" marR="109728" marT="0" marB="0" anchor="ctr">
                    <a:lnL w="6350" cap="flat" cmpd="sng" algn="ctr">
                      <a:solidFill>
                        <a:srgbClr val="D5E0E4"/>
                      </a:solidFill>
                      <a:prstDash val="solid"/>
                      <a:round/>
                      <a:headEnd type="none" w="med" len="med"/>
                      <a:tailEnd type="none" w="med" len="med"/>
                    </a:lnL>
                    <a:lnR w="6350" cap="flat" cmpd="sng" algn="ctr">
                      <a:solidFill>
                        <a:srgbClr val="D5E0E4"/>
                      </a:solidFill>
                      <a:prstDash val="solid"/>
                      <a:round/>
                      <a:headEnd type="none" w="med" len="med"/>
                      <a:tailEnd type="none" w="med" len="med"/>
                    </a:lnR>
                    <a:lnT w="6350" cap="flat" cmpd="sng" algn="ctr">
                      <a:solidFill>
                        <a:srgbClr val="D5E0E4"/>
                      </a:solidFill>
                      <a:prstDash val="solid"/>
                      <a:round/>
                      <a:headEnd type="none" w="med" len="med"/>
                      <a:tailEnd type="none" w="med" len="med"/>
                    </a:lnT>
                    <a:lnB w="6350" cap="flat" cmpd="sng" algn="ctr">
                      <a:solidFill>
                        <a:srgbClr val="D5E0E4"/>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Clear baseline; interpretable coefficients</a:t>
                      </a:r>
                      <a:endParaRPr lang="en-US" sz="1400" dirty="0"/>
                    </a:p>
                  </a:txBody>
                  <a:tcPr marL="109728" marR="109728" marT="0" marB="0" anchor="ctr">
                    <a:lnL w="6350" cap="flat" cmpd="sng" algn="ctr">
                      <a:solidFill>
                        <a:srgbClr val="D5E0E4"/>
                      </a:solidFill>
                      <a:prstDash val="solid"/>
                      <a:round/>
                      <a:headEnd type="none" w="med" len="med"/>
                      <a:tailEnd type="none" w="med" len="med"/>
                    </a:lnL>
                    <a:lnR w="6350" cap="flat" cmpd="sng" algn="ctr">
                      <a:solidFill>
                        <a:srgbClr val="D5E0E4"/>
                      </a:solidFill>
                      <a:prstDash val="solid"/>
                      <a:round/>
                      <a:headEnd type="none" w="med" len="med"/>
                      <a:tailEnd type="none" w="med" len="med"/>
                    </a:lnR>
                    <a:lnT w="6350" cap="flat" cmpd="sng" algn="ctr">
                      <a:solidFill>
                        <a:srgbClr val="D5E0E4"/>
                      </a:solidFill>
                      <a:prstDash val="solid"/>
                      <a:round/>
                      <a:headEnd type="none" w="med" len="med"/>
                      <a:tailEnd type="none" w="med" len="med"/>
                    </a:lnT>
                    <a:lnB w="6350" cap="flat" cmpd="sng" algn="ctr">
                      <a:solidFill>
                        <a:srgbClr val="D5E0E4"/>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Check assumptions and feature relationships</a:t>
                      </a:r>
                      <a:endParaRPr lang="en-US" sz="1400" dirty="0"/>
                    </a:p>
                  </a:txBody>
                  <a:tcPr marL="109728" marR="109728" marT="0" marB="0" anchor="ctr">
                    <a:lnL w="6350" cap="flat" cmpd="sng" algn="ctr">
                      <a:solidFill>
                        <a:srgbClr val="D5E0E4"/>
                      </a:solidFill>
                      <a:prstDash val="solid"/>
                      <a:round/>
                      <a:headEnd type="none" w="med" len="med"/>
                      <a:tailEnd type="none" w="med" len="med"/>
                    </a:lnL>
                    <a:lnR w="6350" cap="flat" cmpd="sng" algn="ctr">
                      <a:solidFill>
                        <a:srgbClr val="D5E0E4"/>
                      </a:solidFill>
                      <a:prstDash val="solid"/>
                      <a:round/>
                      <a:headEnd type="none" w="med" len="med"/>
                      <a:tailEnd type="none" w="med" len="med"/>
                    </a:lnR>
                    <a:lnT w="6350" cap="flat" cmpd="sng" algn="ctr">
                      <a:solidFill>
                        <a:srgbClr val="D5E0E4"/>
                      </a:solidFill>
                      <a:prstDash val="solid"/>
                      <a:round/>
                      <a:headEnd type="none" w="med" len="med"/>
                      <a:tailEnd type="none" w="med" len="med"/>
                    </a:lnT>
                    <a:lnB w="6350" cap="flat" cmpd="sng" algn="ctr">
                      <a:solidFill>
                        <a:srgbClr val="D5E0E4"/>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566928">
                <a:tc>
                  <a:txBody>
                    <a:bodyPr/>
                    <a:lstStyle/>
                    <a:p>
                      <a:pPr marL="0" indent="0">
                        <a:buNone/>
                      </a:pPr>
                      <a:r>
                        <a:rPr lang="en-US" sz="1400" b="1" dirty="0">
                          <a:solidFill>
                            <a:schemeClr val="tx1"/>
                          </a:solidFill>
                        </a:rPr>
                        <a:t>Decision trees / Random Forest</a:t>
                      </a:r>
                      <a:endParaRPr lang="en-US" sz="1400" dirty="0"/>
                    </a:p>
                  </a:txBody>
                  <a:tcPr marL="109728" marR="109728" marT="0" marB="0" anchor="ctr">
                    <a:lnL w="6350" cap="flat" cmpd="sng" algn="ctr">
                      <a:solidFill>
                        <a:srgbClr val="D5E0E4"/>
                      </a:solidFill>
                      <a:prstDash val="solid"/>
                      <a:round/>
                      <a:headEnd type="none" w="med" len="med"/>
                      <a:tailEnd type="none" w="med" len="med"/>
                    </a:lnL>
                    <a:lnR w="6350" cap="flat" cmpd="sng" algn="ctr">
                      <a:solidFill>
                        <a:srgbClr val="D5E0E4"/>
                      </a:solidFill>
                      <a:prstDash val="solid"/>
                      <a:round/>
                      <a:headEnd type="none" w="med" len="med"/>
                      <a:tailEnd type="none" w="med" len="med"/>
                    </a:lnR>
                    <a:lnT w="6350" cap="flat" cmpd="sng" algn="ctr">
                      <a:solidFill>
                        <a:srgbClr val="D5E0E4"/>
                      </a:solidFill>
                      <a:prstDash val="solid"/>
                      <a:round/>
                      <a:headEnd type="none" w="med" len="med"/>
                      <a:tailEnd type="none" w="med" len="med"/>
                    </a:lnT>
                    <a:lnB w="6350" cap="flat" cmpd="sng" algn="ctr">
                      <a:solidFill>
                        <a:srgbClr val="D5E0E4"/>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Capture non-linear patterns and interactions</a:t>
                      </a:r>
                      <a:endParaRPr lang="en-US" sz="1400" dirty="0"/>
                    </a:p>
                  </a:txBody>
                  <a:tcPr marL="109728" marR="109728" marT="0" marB="0" anchor="ctr">
                    <a:lnL w="6350" cap="flat" cmpd="sng" algn="ctr">
                      <a:solidFill>
                        <a:srgbClr val="D5E0E4"/>
                      </a:solidFill>
                      <a:prstDash val="solid"/>
                      <a:round/>
                      <a:headEnd type="none" w="med" len="med"/>
                      <a:tailEnd type="none" w="med" len="med"/>
                    </a:lnL>
                    <a:lnR w="6350" cap="flat" cmpd="sng" algn="ctr">
                      <a:solidFill>
                        <a:srgbClr val="D5E0E4"/>
                      </a:solidFill>
                      <a:prstDash val="solid"/>
                      <a:round/>
                      <a:headEnd type="none" w="med" len="med"/>
                      <a:tailEnd type="none" w="med" len="med"/>
                    </a:lnR>
                    <a:lnT w="6350" cap="flat" cmpd="sng" algn="ctr">
                      <a:solidFill>
                        <a:srgbClr val="D5E0E4"/>
                      </a:solidFill>
                      <a:prstDash val="solid"/>
                      <a:round/>
                      <a:headEnd type="none" w="med" len="med"/>
                      <a:tailEnd type="none" w="med" len="med"/>
                    </a:lnT>
                    <a:lnB w="6350" cap="flat" cmpd="sng" algn="ctr">
                      <a:solidFill>
                        <a:srgbClr val="D5E0E4"/>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Harder to explain; validate and calibrate</a:t>
                      </a:r>
                      <a:endParaRPr lang="en-US" sz="1400" dirty="0"/>
                    </a:p>
                  </a:txBody>
                  <a:tcPr marL="109728" marR="109728" marT="0" marB="0" anchor="ctr">
                    <a:lnL w="6350" cap="flat" cmpd="sng" algn="ctr">
                      <a:solidFill>
                        <a:srgbClr val="D5E0E4"/>
                      </a:solidFill>
                      <a:prstDash val="solid"/>
                      <a:round/>
                      <a:headEnd type="none" w="med" len="med"/>
                      <a:tailEnd type="none" w="med" len="med"/>
                    </a:lnL>
                    <a:lnR w="6350" cap="flat" cmpd="sng" algn="ctr">
                      <a:solidFill>
                        <a:srgbClr val="D5E0E4"/>
                      </a:solidFill>
                      <a:prstDash val="solid"/>
                      <a:round/>
                      <a:headEnd type="none" w="med" len="med"/>
                      <a:tailEnd type="none" w="med" len="med"/>
                    </a:lnR>
                    <a:lnT w="6350" cap="flat" cmpd="sng" algn="ctr">
                      <a:solidFill>
                        <a:srgbClr val="D5E0E4"/>
                      </a:solidFill>
                      <a:prstDash val="solid"/>
                      <a:round/>
                      <a:headEnd type="none" w="med" len="med"/>
                      <a:tailEnd type="none" w="med" len="med"/>
                    </a:lnT>
                    <a:lnB w="6350" cap="flat" cmpd="sng" algn="ctr">
                      <a:solidFill>
                        <a:srgbClr val="D5E0E4"/>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66928">
                <a:tc>
                  <a:txBody>
                    <a:bodyPr/>
                    <a:lstStyle/>
                    <a:p>
                      <a:pPr marL="0" indent="0">
                        <a:buNone/>
                      </a:pPr>
                      <a:r>
                        <a:rPr lang="en-US" sz="1400" b="1" dirty="0">
                          <a:solidFill>
                            <a:schemeClr val="tx1"/>
                          </a:solidFill>
                        </a:rPr>
                        <a:t>Gradient-boosted trees</a:t>
                      </a:r>
                      <a:endParaRPr lang="en-US" sz="1400" dirty="0"/>
                    </a:p>
                  </a:txBody>
                  <a:tcPr marL="109728" marR="109728" marT="0" marB="0" anchor="ctr">
                    <a:lnL w="6350" cap="flat" cmpd="sng" algn="ctr">
                      <a:solidFill>
                        <a:srgbClr val="D5E0E4"/>
                      </a:solidFill>
                      <a:prstDash val="solid"/>
                      <a:round/>
                      <a:headEnd type="none" w="med" len="med"/>
                      <a:tailEnd type="none" w="med" len="med"/>
                    </a:lnL>
                    <a:lnR w="6350" cap="flat" cmpd="sng" algn="ctr">
                      <a:solidFill>
                        <a:srgbClr val="D5E0E4"/>
                      </a:solidFill>
                      <a:prstDash val="solid"/>
                      <a:round/>
                      <a:headEnd type="none" w="med" len="med"/>
                      <a:tailEnd type="none" w="med" len="med"/>
                    </a:lnR>
                    <a:lnT w="6350" cap="flat" cmpd="sng" algn="ctr">
                      <a:solidFill>
                        <a:srgbClr val="D5E0E4"/>
                      </a:solidFill>
                      <a:prstDash val="solid"/>
                      <a:round/>
                      <a:headEnd type="none" w="med" len="med"/>
                      <a:tailEnd type="none" w="med" len="med"/>
                    </a:lnT>
                    <a:lnB w="6350" cap="flat" cmpd="sng" algn="ctr">
                      <a:solidFill>
                        <a:srgbClr val="D5E0E4"/>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Often effective on structured tabular data</a:t>
                      </a:r>
                      <a:endParaRPr lang="en-US" sz="1400" dirty="0"/>
                    </a:p>
                  </a:txBody>
                  <a:tcPr marL="109728" marR="109728" marT="0" marB="0" anchor="ctr">
                    <a:lnL w="6350" cap="flat" cmpd="sng" algn="ctr">
                      <a:solidFill>
                        <a:srgbClr val="D5E0E4"/>
                      </a:solidFill>
                      <a:prstDash val="solid"/>
                      <a:round/>
                      <a:headEnd type="none" w="med" len="med"/>
                      <a:tailEnd type="none" w="med" len="med"/>
                    </a:lnL>
                    <a:lnR w="6350" cap="flat" cmpd="sng" algn="ctr">
                      <a:solidFill>
                        <a:srgbClr val="D5E0E4"/>
                      </a:solidFill>
                      <a:prstDash val="solid"/>
                      <a:round/>
                      <a:headEnd type="none" w="med" len="med"/>
                      <a:tailEnd type="none" w="med" len="med"/>
                    </a:lnR>
                    <a:lnT w="6350" cap="flat" cmpd="sng" algn="ctr">
                      <a:solidFill>
                        <a:srgbClr val="D5E0E4"/>
                      </a:solidFill>
                      <a:prstDash val="solid"/>
                      <a:round/>
                      <a:headEnd type="none" w="med" len="med"/>
                      <a:tailEnd type="none" w="med" len="med"/>
                    </a:lnT>
                    <a:lnB w="6350" cap="flat" cmpd="sng" algn="ctr">
                      <a:solidFill>
                        <a:srgbClr val="D5E0E4"/>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Tuning and interpretation need care</a:t>
                      </a:r>
                      <a:endParaRPr lang="en-US" sz="1400" dirty="0"/>
                    </a:p>
                  </a:txBody>
                  <a:tcPr marL="109728" marR="109728" marT="0" marB="0" anchor="ctr">
                    <a:lnL w="6350" cap="flat" cmpd="sng" algn="ctr">
                      <a:solidFill>
                        <a:srgbClr val="D5E0E4"/>
                      </a:solidFill>
                      <a:prstDash val="solid"/>
                      <a:round/>
                      <a:headEnd type="none" w="med" len="med"/>
                      <a:tailEnd type="none" w="med" len="med"/>
                    </a:lnL>
                    <a:lnR w="6350" cap="flat" cmpd="sng" algn="ctr">
                      <a:solidFill>
                        <a:srgbClr val="D5E0E4"/>
                      </a:solidFill>
                      <a:prstDash val="solid"/>
                      <a:round/>
                      <a:headEnd type="none" w="med" len="med"/>
                      <a:tailEnd type="none" w="med" len="med"/>
                    </a:lnR>
                    <a:lnT w="6350" cap="flat" cmpd="sng" algn="ctr">
                      <a:solidFill>
                        <a:srgbClr val="D5E0E4"/>
                      </a:solidFill>
                      <a:prstDash val="solid"/>
                      <a:round/>
                      <a:headEnd type="none" w="med" len="med"/>
                      <a:tailEnd type="none" w="med" len="med"/>
                    </a:lnT>
                    <a:lnB w="6350" cap="flat" cmpd="sng" algn="ctr">
                      <a:solidFill>
                        <a:srgbClr val="D5E0E4"/>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566928">
                <a:tc>
                  <a:txBody>
                    <a:bodyPr/>
                    <a:lstStyle/>
                    <a:p>
                      <a:pPr marL="0" indent="0">
                        <a:buNone/>
                      </a:pPr>
                      <a:r>
                        <a:rPr lang="en-US" sz="1400" b="1" dirty="0">
                          <a:solidFill>
                            <a:schemeClr val="tx1"/>
                          </a:solidFill>
                        </a:rPr>
                        <a:t>SVM / k-nearest neighbours</a:t>
                      </a:r>
                      <a:endParaRPr lang="en-US" sz="1400" dirty="0"/>
                    </a:p>
                  </a:txBody>
                  <a:tcPr marL="109728" marR="109728" marT="0" marB="0" anchor="ctr">
                    <a:lnL w="6350" cap="flat" cmpd="sng" algn="ctr">
                      <a:solidFill>
                        <a:srgbClr val="D5E0E4"/>
                      </a:solidFill>
                      <a:prstDash val="solid"/>
                      <a:round/>
                      <a:headEnd type="none" w="med" len="med"/>
                      <a:tailEnd type="none" w="med" len="med"/>
                    </a:lnL>
                    <a:lnR w="6350" cap="flat" cmpd="sng" algn="ctr">
                      <a:solidFill>
                        <a:srgbClr val="D5E0E4"/>
                      </a:solidFill>
                      <a:prstDash val="solid"/>
                      <a:round/>
                      <a:headEnd type="none" w="med" len="med"/>
                      <a:tailEnd type="none" w="med" len="med"/>
                    </a:lnR>
                    <a:lnT w="6350" cap="flat" cmpd="sng" algn="ctr">
                      <a:solidFill>
                        <a:srgbClr val="D5E0E4"/>
                      </a:solidFill>
                      <a:prstDash val="solid"/>
                      <a:round/>
                      <a:headEnd type="none" w="med" len="med"/>
                      <a:tailEnd type="none" w="med" len="med"/>
                    </a:lnT>
                    <a:lnB w="6350" cap="flat" cmpd="sng" algn="ctr">
                      <a:solidFill>
                        <a:srgbClr val="D5E0E4"/>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Useful comparison methods for classification</a:t>
                      </a:r>
                      <a:endParaRPr lang="en-US" sz="1400" dirty="0"/>
                    </a:p>
                  </a:txBody>
                  <a:tcPr marL="109728" marR="109728" marT="0" marB="0" anchor="ctr">
                    <a:lnL w="6350" cap="flat" cmpd="sng" algn="ctr">
                      <a:solidFill>
                        <a:srgbClr val="D5E0E4"/>
                      </a:solidFill>
                      <a:prstDash val="solid"/>
                      <a:round/>
                      <a:headEnd type="none" w="med" len="med"/>
                      <a:tailEnd type="none" w="med" len="med"/>
                    </a:lnL>
                    <a:lnR w="6350" cap="flat" cmpd="sng" algn="ctr">
                      <a:solidFill>
                        <a:srgbClr val="D5E0E4"/>
                      </a:solidFill>
                      <a:prstDash val="solid"/>
                      <a:round/>
                      <a:headEnd type="none" w="med" len="med"/>
                      <a:tailEnd type="none" w="med" len="med"/>
                    </a:lnR>
                    <a:lnT w="6350" cap="flat" cmpd="sng" algn="ctr">
                      <a:solidFill>
                        <a:srgbClr val="D5E0E4"/>
                      </a:solidFill>
                      <a:prstDash val="solid"/>
                      <a:round/>
                      <a:headEnd type="none" w="med" len="med"/>
                      <a:tailEnd type="none" w="med" len="med"/>
                    </a:lnT>
                    <a:lnB w="6350" cap="flat" cmpd="sng" algn="ctr">
                      <a:solidFill>
                        <a:srgbClr val="D5E0E4"/>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Scaling and parameters strongly affect results</a:t>
                      </a:r>
                      <a:endParaRPr lang="en-US" sz="1400" dirty="0"/>
                    </a:p>
                  </a:txBody>
                  <a:tcPr marL="109728" marR="109728" marT="0" marB="0" anchor="ctr">
                    <a:lnL w="6350" cap="flat" cmpd="sng" algn="ctr">
                      <a:solidFill>
                        <a:srgbClr val="D5E0E4"/>
                      </a:solidFill>
                      <a:prstDash val="solid"/>
                      <a:round/>
                      <a:headEnd type="none" w="med" len="med"/>
                      <a:tailEnd type="none" w="med" len="med"/>
                    </a:lnL>
                    <a:lnR w="6350" cap="flat" cmpd="sng" algn="ctr">
                      <a:solidFill>
                        <a:srgbClr val="D5E0E4"/>
                      </a:solidFill>
                      <a:prstDash val="solid"/>
                      <a:round/>
                      <a:headEnd type="none" w="med" len="med"/>
                      <a:tailEnd type="none" w="med" len="med"/>
                    </a:lnR>
                    <a:lnT w="6350" cap="flat" cmpd="sng" algn="ctr">
                      <a:solidFill>
                        <a:srgbClr val="D5E0E4"/>
                      </a:solidFill>
                      <a:prstDash val="solid"/>
                      <a:round/>
                      <a:headEnd type="none" w="med" len="med"/>
                      <a:tailEnd type="none" w="med" len="med"/>
                    </a:lnT>
                    <a:lnB w="6350" cap="flat" cmpd="sng" algn="ctr">
                      <a:solidFill>
                        <a:srgbClr val="D5E0E4"/>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66928">
                <a:tc>
                  <a:txBody>
                    <a:bodyPr/>
                    <a:lstStyle/>
                    <a:p>
                      <a:pPr marL="0" indent="0">
                        <a:buNone/>
                      </a:pPr>
                      <a:r>
                        <a:rPr lang="en-US" sz="1400" b="1" dirty="0">
                          <a:solidFill>
                            <a:schemeClr val="tx1"/>
                          </a:solidFill>
                        </a:rPr>
                        <a:t>Deep neural networks</a:t>
                      </a:r>
                      <a:endParaRPr lang="en-US" sz="1400" dirty="0"/>
                    </a:p>
                  </a:txBody>
                  <a:tcPr marL="109728" marR="109728" marT="0" marB="0" anchor="ctr">
                    <a:lnL w="6350" cap="flat" cmpd="sng" algn="ctr">
                      <a:solidFill>
                        <a:srgbClr val="D5E0E4"/>
                      </a:solidFill>
                      <a:prstDash val="solid"/>
                      <a:round/>
                      <a:headEnd type="none" w="med" len="med"/>
                      <a:tailEnd type="none" w="med" len="med"/>
                    </a:lnL>
                    <a:lnR w="6350" cap="flat" cmpd="sng" algn="ctr">
                      <a:solidFill>
                        <a:srgbClr val="D5E0E4"/>
                      </a:solidFill>
                      <a:prstDash val="solid"/>
                      <a:round/>
                      <a:headEnd type="none" w="med" len="med"/>
                      <a:tailEnd type="none" w="med" len="med"/>
                    </a:lnR>
                    <a:lnT w="6350" cap="flat" cmpd="sng" algn="ctr">
                      <a:solidFill>
                        <a:srgbClr val="D5E0E4"/>
                      </a:solidFill>
                      <a:prstDash val="solid"/>
                      <a:round/>
                      <a:headEnd type="none" w="med" len="med"/>
                      <a:tailEnd type="none" w="med" len="med"/>
                    </a:lnT>
                    <a:lnB w="6350" cap="flat" cmpd="sng" algn="ctr">
                      <a:solidFill>
                        <a:srgbClr val="D5E0E4"/>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Model complex patterns in large or sequential data</a:t>
                      </a:r>
                      <a:endParaRPr lang="en-US" sz="1400" dirty="0"/>
                    </a:p>
                  </a:txBody>
                  <a:tcPr marL="109728" marR="109728" marT="0" marB="0" anchor="ctr">
                    <a:lnL w="6350" cap="flat" cmpd="sng" algn="ctr">
                      <a:solidFill>
                        <a:srgbClr val="D5E0E4"/>
                      </a:solidFill>
                      <a:prstDash val="solid"/>
                      <a:round/>
                      <a:headEnd type="none" w="med" len="med"/>
                      <a:tailEnd type="none" w="med" len="med"/>
                    </a:lnL>
                    <a:lnR w="6350" cap="flat" cmpd="sng" algn="ctr">
                      <a:solidFill>
                        <a:srgbClr val="D5E0E4"/>
                      </a:solidFill>
                      <a:prstDash val="solid"/>
                      <a:round/>
                      <a:headEnd type="none" w="med" len="med"/>
                      <a:tailEnd type="none" w="med" len="med"/>
                    </a:lnR>
                    <a:lnT w="6350" cap="flat" cmpd="sng" algn="ctr">
                      <a:solidFill>
                        <a:srgbClr val="D5E0E4"/>
                      </a:solidFill>
                      <a:prstDash val="solid"/>
                      <a:round/>
                      <a:headEnd type="none" w="med" len="med"/>
                      <a:tailEnd type="none" w="med" len="med"/>
                    </a:lnT>
                    <a:lnB w="6350" cap="flat" cmpd="sng" algn="ctr">
                      <a:solidFill>
                        <a:srgbClr val="D5E0E4"/>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Need data, transparency and generalization checks</a:t>
                      </a:r>
                      <a:endParaRPr lang="en-US" sz="1400" dirty="0"/>
                    </a:p>
                  </a:txBody>
                  <a:tcPr marL="109728" marR="109728" marT="0" marB="0" anchor="ctr">
                    <a:lnL w="6350" cap="flat" cmpd="sng" algn="ctr">
                      <a:solidFill>
                        <a:srgbClr val="D5E0E4"/>
                      </a:solidFill>
                      <a:prstDash val="solid"/>
                      <a:round/>
                      <a:headEnd type="none" w="med" len="med"/>
                      <a:tailEnd type="none" w="med" len="med"/>
                    </a:lnL>
                    <a:lnR w="6350" cap="flat" cmpd="sng" algn="ctr">
                      <a:solidFill>
                        <a:srgbClr val="D5E0E4"/>
                      </a:solidFill>
                      <a:prstDash val="solid"/>
                      <a:round/>
                      <a:headEnd type="none" w="med" len="med"/>
                      <a:tailEnd type="none" w="med" len="med"/>
                    </a:lnR>
                    <a:lnT w="6350" cap="flat" cmpd="sng" algn="ctr">
                      <a:solidFill>
                        <a:srgbClr val="D5E0E4"/>
                      </a:solidFill>
                      <a:prstDash val="solid"/>
                      <a:round/>
                      <a:headEnd type="none" w="med" len="med"/>
                      <a:tailEnd type="none" w="med" len="med"/>
                    </a:lnT>
                    <a:lnB w="6350" cap="flat" cmpd="sng" algn="ctr">
                      <a:solidFill>
                        <a:srgbClr val="D5E0E4"/>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bl>
          </a:graphicData>
        </a:graphic>
      </p:graphicFrame>
      <p:sp>
        <p:nvSpPr>
          <p:cNvPr id="4" name="Card"/>
          <p:cNvSpPr/>
          <p:nvPr/>
        </p:nvSpPr>
        <p:spPr>
          <a:xfrm>
            <a:off x="548640" y="5074920"/>
            <a:ext cx="11064240" cy="914400"/>
          </a:xfrm>
          <a:prstGeom prst="roundRect">
            <a:avLst>
              <a:gd name="adj" fmla="val 10000"/>
            </a:avLst>
          </a:prstGeom>
          <a:solidFill>
            <a:schemeClr val="tx1"/>
          </a:solidFill>
          <a:ln/>
        </p:spPr>
      </p:sp>
      <p:sp>
        <p:nvSpPr>
          <p:cNvPr id="5" name="Icon circle"/>
          <p:cNvSpPr/>
          <p:nvPr/>
        </p:nvSpPr>
        <p:spPr>
          <a:xfrm>
            <a:off x="822960" y="5257800"/>
            <a:ext cx="548640" cy="548640"/>
          </a:xfrm>
          <a:prstGeom prst="ellipse">
            <a:avLst/>
          </a:prstGeom>
          <a:solidFill>
            <a:schemeClr val="accent2"/>
          </a:solidFill>
          <a:ln/>
        </p:spPr>
      </p:sp>
      <p:pic>
        <p:nvPicPr>
          <p:cNvPr id="6" name="Image 0" descr="Lightbulb icon"/>
          <p:cNvPicPr>
            <a:picLocks noChangeAspect="1"/>
          </p:cNvPicPr>
          <p:nvPr/>
        </p:nvPicPr>
        <p:blipFill>
          <a:blip r:embed="rId3"/>
          <a:stretch>
            <a:fillRect/>
          </a:stretch>
        </p:blipFill>
        <p:spPr>
          <a:xfrm>
            <a:off x="960120" y="5394960"/>
            <a:ext cx="274320" cy="274320"/>
          </a:xfrm>
          <a:prstGeom prst="rect">
            <a:avLst/>
          </a:prstGeom>
        </p:spPr>
      </p:pic>
      <p:sp>
        <p:nvSpPr>
          <p:cNvPr id="7" name="Text 3"/>
          <p:cNvSpPr txBox="1"/>
          <p:nvPr/>
        </p:nvSpPr>
        <p:spPr>
          <a:xfrm>
            <a:off x="1600200" y="5074920"/>
            <a:ext cx="9784080" cy="914400"/>
          </a:xfrm>
          <a:prstGeom prst="rect">
            <a:avLst/>
          </a:prstGeom>
          <a:noFill/>
          <a:ln/>
        </p:spPr>
        <p:txBody>
          <a:bodyPr wrap="square" lIns="0" tIns="0" rIns="0" bIns="0" rtlCol="0" anchor="ctr"/>
          <a:lstStyle/>
          <a:p>
            <a:pPr marL="0" indent="0">
              <a:buNone/>
            </a:pPr>
            <a:r>
              <a:rPr lang="en-US" sz="1800" b="1" dirty="0">
                <a:solidFill>
                  <a:schemeClr val="bg1"/>
                </a:solidFill>
              </a:rPr>
              <a:t>No algorithm is universally best without comparable data, targets, validation and metrics.</a:t>
            </a:r>
            <a:endParaRPr lang="en-US" sz="1800" dirty="0"/>
          </a:p>
        </p:txBody>
      </p:sp>
      <p:sp>
        <p:nvSpPr>
          <p:cNvPr id="25" name="Slide Number Placeholder 0"/>
          <p:cNvSpPr>
            <a:spLocks noGrp="1"/>
          </p:cNvSpPr>
          <p:nvPr>
            <p:ph type="sldNum" sz="quarter" idx="4294967295"/>
          </p:nvPr>
        </p:nvSpPr>
        <p:spPr>
          <a:xfrm>
            <a:off x="11064240" y="6400800"/>
            <a:ext cx="59436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600" b="1" dirty="0">
                <a:solidFill>
                  <a:schemeClr val="tx1"/>
                </a:solidFill>
              </a:rPr>
              <a:t>Accuracy alone can hide missed students</a:t>
            </a:r>
            <a:endParaRPr lang="en-US" sz="3600" dirty="0"/>
          </a:p>
        </p:txBody>
      </p:sp>
      <p:sp>
        <p:nvSpPr>
          <p:cNvPr id="3" name="Card"/>
          <p:cNvSpPr/>
          <p:nvPr/>
        </p:nvSpPr>
        <p:spPr>
          <a:xfrm>
            <a:off x="548640" y="1463040"/>
            <a:ext cx="2651760" cy="2651760"/>
          </a:xfrm>
          <a:prstGeom prst="roundRect">
            <a:avLst>
              <a:gd name="adj" fmla="val 3448"/>
            </a:avLst>
          </a:prstGeom>
          <a:solidFill>
            <a:schemeClr val="bg2"/>
          </a:solidFill>
          <a:ln/>
        </p:spPr>
      </p:sp>
      <p:sp>
        <p:nvSpPr>
          <p:cNvPr id="4" name="Icon circle"/>
          <p:cNvSpPr/>
          <p:nvPr/>
        </p:nvSpPr>
        <p:spPr>
          <a:xfrm>
            <a:off x="777240" y="1691640"/>
            <a:ext cx="685800" cy="685800"/>
          </a:xfrm>
          <a:prstGeom prst="ellipse">
            <a:avLst/>
          </a:prstGeom>
          <a:solidFill>
            <a:schemeClr val="accent1"/>
          </a:solidFill>
          <a:ln/>
        </p:spPr>
      </p:sp>
      <p:pic>
        <p:nvPicPr>
          <p:cNvPr id="5" name="Image 0" descr="CheckCircle icon"/>
          <p:cNvPicPr>
            <a:picLocks noChangeAspect="1"/>
          </p:cNvPicPr>
          <p:nvPr/>
        </p:nvPicPr>
        <p:blipFill>
          <a:blip r:embed="rId3"/>
          <a:stretch>
            <a:fillRect/>
          </a:stretch>
        </p:blipFill>
        <p:spPr>
          <a:xfrm>
            <a:off x="948690" y="1863090"/>
            <a:ext cx="342900" cy="342900"/>
          </a:xfrm>
          <a:prstGeom prst="rect">
            <a:avLst/>
          </a:prstGeom>
        </p:spPr>
      </p:pic>
      <p:sp>
        <p:nvSpPr>
          <p:cNvPr id="6" name="Text 3"/>
          <p:cNvSpPr txBox="1"/>
          <p:nvPr/>
        </p:nvSpPr>
        <p:spPr>
          <a:xfrm>
            <a:off x="777240" y="2560320"/>
            <a:ext cx="2194560" cy="365760"/>
          </a:xfrm>
          <a:prstGeom prst="rect">
            <a:avLst/>
          </a:prstGeom>
          <a:noFill/>
          <a:ln/>
        </p:spPr>
        <p:txBody>
          <a:bodyPr wrap="square" lIns="0" tIns="0" rIns="0" bIns="0" rtlCol="0" anchor="t"/>
          <a:lstStyle/>
          <a:p>
            <a:pPr marL="0" indent="0">
              <a:buNone/>
            </a:pPr>
            <a:r>
              <a:rPr lang="en-US" sz="2000" b="1" dirty="0">
                <a:solidFill>
                  <a:schemeClr val="tx1"/>
                </a:solidFill>
              </a:rPr>
              <a:t>Accuracy</a:t>
            </a:r>
            <a:endParaRPr lang="en-US" sz="2000" dirty="0"/>
          </a:p>
        </p:txBody>
      </p:sp>
      <p:sp>
        <p:nvSpPr>
          <p:cNvPr id="7" name="Text 4"/>
          <p:cNvSpPr txBox="1"/>
          <p:nvPr/>
        </p:nvSpPr>
        <p:spPr>
          <a:xfrm>
            <a:off x="777240" y="3017520"/>
            <a:ext cx="2194560" cy="914400"/>
          </a:xfrm>
          <a:prstGeom prst="rect">
            <a:avLst/>
          </a:prstGeom>
          <a:noFill/>
          <a:ln/>
        </p:spPr>
        <p:txBody>
          <a:bodyPr wrap="square" lIns="0" tIns="0" rIns="0" bIns="0" rtlCol="0" anchor="t"/>
          <a:lstStyle/>
          <a:p>
            <a:pPr marL="0" indent="0">
              <a:buNone/>
            </a:pPr>
            <a:r>
              <a:rPr lang="en-US" sz="1400" dirty="0">
                <a:solidFill>
                  <a:schemeClr val="tx1"/>
                </a:solidFill>
              </a:rPr>
              <a:t>Share of all predictions that are correct.</a:t>
            </a:r>
            <a:endParaRPr lang="en-US" sz="1400" dirty="0"/>
          </a:p>
        </p:txBody>
      </p:sp>
      <p:sp>
        <p:nvSpPr>
          <p:cNvPr id="8" name="Card"/>
          <p:cNvSpPr/>
          <p:nvPr/>
        </p:nvSpPr>
        <p:spPr>
          <a:xfrm>
            <a:off x="3355848" y="1463040"/>
            <a:ext cx="2651760" cy="2651760"/>
          </a:xfrm>
          <a:prstGeom prst="roundRect">
            <a:avLst>
              <a:gd name="adj" fmla="val 3448"/>
            </a:avLst>
          </a:prstGeom>
          <a:solidFill>
            <a:schemeClr val="bg2"/>
          </a:solidFill>
          <a:ln/>
        </p:spPr>
      </p:sp>
      <p:sp>
        <p:nvSpPr>
          <p:cNvPr id="9" name="Icon circle"/>
          <p:cNvSpPr/>
          <p:nvPr/>
        </p:nvSpPr>
        <p:spPr>
          <a:xfrm>
            <a:off x="3584448" y="1691640"/>
            <a:ext cx="685800" cy="685800"/>
          </a:xfrm>
          <a:prstGeom prst="ellipse">
            <a:avLst/>
          </a:prstGeom>
          <a:solidFill>
            <a:schemeClr val="accent1"/>
          </a:solidFill>
          <a:ln/>
        </p:spPr>
      </p:sp>
      <p:pic>
        <p:nvPicPr>
          <p:cNvPr id="10" name="Image 1" descr="Bullseye icon"/>
          <p:cNvPicPr>
            <a:picLocks noChangeAspect="1"/>
          </p:cNvPicPr>
          <p:nvPr/>
        </p:nvPicPr>
        <p:blipFill>
          <a:blip r:embed="rId4"/>
          <a:stretch>
            <a:fillRect/>
          </a:stretch>
        </p:blipFill>
        <p:spPr>
          <a:xfrm>
            <a:off x="3755898" y="1863090"/>
            <a:ext cx="342900" cy="342900"/>
          </a:xfrm>
          <a:prstGeom prst="rect">
            <a:avLst/>
          </a:prstGeom>
        </p:spPr>
      </p:pic>
      <p:sp>
        <p:nvSpPr>
          <p:cNvPr id="11" name="Text 7"/>
          <p:cNvSpPr txBox="1"/>
          <p:nvPr/>
        </p:nvSpPr>
        <p:spPr>
          <a:xfrm>
            <a:off x="3584448" y="2560320"/>
            <a:ext cx="2194560" cy="365760"/>
          </a:xfrm>
          <a:prstGeom prst="rect">
            <a:avLst/>
          </a:prstGeom>
          <a:noFill/>
          <a:ln/>
        </p:spPr>
        <p:txBody>
          <a:bodyPr wrap="square" lIns="0" tIns="0" rIns="0" bIns="0" rtlCol="0" anchor="t"/>
          <a:lstStyle/>
          <a:p>
            <a:pPr marL="0" indent="0">
              <a:buNone/>
            </a:pPr>
            <a:r>
              <a:rPr lang="en-US" sz="2000" b="1" dirty="0">
                <a:solidFill>
                  <a:schemeClr val="tx1"/>
                </a:solidFill>
              </a:rPr>
              <a:t>Precision</a:t>
            </a:r>
            <a:endParaRPr lang="en-US" sz="2000" dirty="0"/>
          </a:p>
        </p:txBody>
      </p:sp>
      <p:sp>
        <p:nvSpPr>
          <p:cNvPr id="12" name="Text 8"/>
          <p:cNvSpPr txBox="1"/>
          <p:nvPr/>
        </p:nvSpPr>
        <p:spPr>
          <a:xfrm>
            <a:off x="3584448" y="3017520"/>
            <a:ext cx="2194560" cy="914400"/>
          </a:xfrm>
          <a:prstGeom prst="rect">
            <a:avLst/>
          </a:prstGeom>
          <a:noFill/>
          <a:ln/>
        </p:spPr>
        <p:txBody>
          <a:bodyPr wrap="square" lIns="0" tIns="0" rIns="0" bIns="0" rtlCol="0" anchor="t"/>
          <a:lstStyle/>
          <a:p>
            <a:pPr marL="0" indent="0">
              <a:buNone/>
            </a:pPr>
            <a:r>
              <a:rPr lang="en-US" sz="1400" dirty="0">
                <a:solidFill>
                  <a:schemeClr val="tx1"/>
                </a:solidFill>
              </a:rPr>
              <a:t>Of the students flagged, how many truly need help.</a:t>
            </a:r>
            <a:endParaRPr lang="en-US" sz="1400" dirty="0"/>
          </a:p>
        </p:txBody>
      </p:sp>
      <p:sp>
        <p:nvSpPr>
          <p:cNvPr id="13" name="Card"/>
          <p:cNvSpPr/>
          <p:nvPr/>
        </p:nvSpPr>
        <p:spPr>
          <a:xfrm>
            <a:off x="6163056" y="1463040"/>
            <a:ext cx="2651760" cy="2651760"/>
          </a:xfrm>
          <a:prstGeom prst="roundRect">
            <a:avLst>
              <a:gd name="adj" fmla="val 3448"/>
            </a:avLst>
          </a:prstGeom>
          <a:solidFill>
            <a:schemeClr val="bg2"/>
          </a:solidFill>
          <a:ln/>
        </p:spPr>
      </p:sp>
      <p:sp>
        <p:nvSpPr>
          <p:cNvPr id="14" name="Icon circle"/>
          <p:cNvSpPr/>
          <p:nvPr/>
        </p:nvSpPr>
        <p:spPr>
          <a:xfrm>
            <a:off x="6391656" y="1691640"/>
            <a:ext cx="685800" cy="685800"/>
          </a:xfrm>
          <a:prstGeom prst="ellipse">
            <a:avLst/>
          </a:prstGeom>
          <a:solidFill>
            <a:schemeClr val="accent1"/>
          </a:solidFill>
          <a:ln/>
        </p:spPr>
      </p:sp>
      <p:pic>
        <p:nvPicPr>
          <p:cNvPr id="15" name="Image 2" descr="Search icon"/>
          <p:cNvPicPr>
            <a:picLocks noChangeAspect="1"/>
          </p:cNvPicPr>
          <p:nvPr/>
        </p:nvPicPr>
        <p:blipFill>
          <a:blip r:embed="rId5"/>
          <a:stretch>
            <a:fillRect/>
          </a:stretch>
        </p:blipFill>
        <p:spPr>
          <a:xfrm>
            <a:off x="6563106" y="1863090"/>
            <a:ext cx="342900" cy="342900"/>
          </a:xfrm>
          <a:prstGeom prst="rect">
            <a:avLst/>
          </a:prstGeom>
        </p:spPr>
      </p:pic>
      <p:sp>
        <p:nvSpPr>
          <p:cNvPr id="16" name="Text 11"/>
          <p:cNvSpPr txBox="1"/>
          <p:nvPr/>
        </p:nvSpPr>
        <p:spPr>
          <a:xfrm>
            <a:off x="6391656" y="2560320"/>
            <a:ext cx="2194560" cy="365760"/>
          </a:xfrm>
          <a:prstGeom prst="rect">
            <a:avLst/>
          </a:prstGeom>
          <a:noFill/>
          <a:ln/>
        </p:spPr>
        <p:txBody>
          <a:bodyPr wrap="square" lIns="0" tIns="0" rIns="0" bIns="0" rtlCol="0" anchor="t"/>
          <a:lstStyle/>
          <a:p>
            <a:pPr marL="0" indent="0">
              <a:buNone/>
            </a:pPr>
            <a:r>
              <a:rPr lang="en-US" sz="2000" b="1" dirty="0">
                <a:solidFill>
                  <a:schemeClr val="tx1"/>
                </a:solidFill>
              </a:rPr>
              <a:t>Recall</a:t>
            </a:r>
            <a:endParaRPr lang="en-US" sz="2000" dirty="0"/>
          </a:p>
        </p:txBody>
      </p:sp>
      <p:sp>
        <p:nvSpPr>
          <p:cNvPr id="17" name="Text 12"/>
          <p:cNvSpPr txBox="1"/>
          <p:nvPr/>
        </p:nvSpPr>
        <p:spPr>
          <a:xfrm>
            <a:off x="6391656" y="3017520"/>
            <a:ext cx="2194560" cy="914400"/>
          </a:xfrm>
          <a:prstGeom prst="rect">
            <a:avLst/>
          </a:prstGeom>
          <a:noFill/>
          <a:ln/>
        </p:spPr>
        <p:txBody>
          <a:bodyPr wrap="square" lIns="0" tIns="0" rIns="0" bIns="0" rtlCol="0" anchor="t"/>
          <a:lstStyle/>
          <a:p>
            <a:pPr marL="0" indent="0">
              <a:buNone/>
            </a:pPr>
            <a:r>
              <a:rPr lang="en-US" sz="1400" dirty="0">
                <a:solidFill>
                  <a:schemeClr val="tx1"/>
                </a:solidFill>
              </a:rPr>
              <a:t>Of the students who need help, how many were found.</a:t>
            </a:r>
            <a:endParaRPr lang="en-US" sz="1400" dirty="0"/>
          </a:p>
        </p:txBody>
      </p:sp>
      <p:sp>
        <p:nvSpPr>
          <p:cNvPr id="18" name="Card"/>
          <p:cNvSpPr/>
          <p:nvPr/>
        </p:nvSpPr>
        <p:spPr>
          <a:xfrm>
            <a:off x="8970264" y="1463040"/>
            <a:ext cx="2651760" cy="2651760"/>
          </a:xfrm>
          <a:prstGeom prst="roundRect">
            <a:avLst>
              <a:gd name="adj" fmla="val 3448"/>
            </a:avLst>
          </a:prstGeom>
          <a:solidFill>
            <a:schemeClr val="bg2"/>
          </a:solidFill>
          <a:ln/>
        </p:spPr>
      </p:sp>
      <p:sp>
        <p:nvSpPr>
          <p:cNvPr id="19" name="Icon circle"/>
          <p:cNvSpPr/>
          <p:nvPr/>
        </p:nvSpPr>
        <p:spPr>
          <a:xfrm>
            <a:off x="9198864" y="1691640"/>
            <a:ext cx="685800" cy="685800"/>
          </a:xfrm>
          <a:prstGeom prst="ellipse">
            <a:avLst/>
          </a:prstGeom>
          <a:solidFill>
            <a:schemeClr val="accent1"/>
          </a:solidFill>
          <a:ln/>
        </p:spPr>
      </p:sp>
      <p:pic>
        <p:nvPicPr>
          <p:cNvPr id="20" name="Image 3" descr="BalanceScale icon"/>
          <p:cNvPicPr>
            <a:picLocks noChangeAspect="1"/>
          </p:cNvPicPr>
          <p:nvPr/>
        </p:nvPicPr>
        <p:blipFill>
          <a:blip r:embed="rId6"/>
          <a:stretch>
            <a:fillRect/>
          </a:stretch>
        </p:blipFill>
        <p:spPr>
          <a:xfrm>
            <a:off x="9370314" y="1863090"/>
            <a:ext cx="342900" cy="342900"/>
          </a:xfrm>
          <a:prstGeom prst="rect">
            <a:avLst/>
          </a:prstGeom>
        </p:spPr>
      </p:pic>
      <p:sp>
        <p:nvSpPr>
          <p:cNvPr id="21" name="Text 15"/>
          <p:cNvSpPr txBox="1"/>
          <p:nvPr/>
        </p:nvSpPr>
        <p:spPr>
          <a:xfrm>
            <a:off x="9198864" y="2560320"/>
            <a:ext cx="2194560" cy="365760"/>
          </a:xfrm>
          <a:prstGeom prst="rect">
            <a:avLst/>
          </a:prstGeom>
          <a:noFill/>
          <a:ln/>
        </p:spPr>
        <p:txBody>
          <a:bodyPr wrap="square" lIns="0" tIns="0" rIns="0" bIns="0" rtlCol="0" anchor="t"/>
          <a:lstStyle/>
          <a:p>
            <a:pPr marL="0" indent="0">
              <a:buNone/>
            </a:pPr>
            <a:r>
              <a:rPr lang="en-US" sz="2000" b="1" dirty="0">
                <a:solidFill>
                  <a:schemeClr val="tx1"/>
                </a:solidFill>
              </a:rPr>
              <a:t>F1-score</a:t>
            </a:r>
            <a:endParaRPr lang="en-US" sz="2000" dirty="0"/>
          </a:p>
        </p:txBody>
      </p:sp>
      <p:sp>
        <p:nvSpPr>
          <p:cNvPr id="22" name="Text 16"/>
          <p:cNvSpPr txBox="1"/>
          <p:nvPr/>
        </p:nvSpPr>
        <p:spPr>
          <a:xfrm>
            <a:off x="9198864" y="3017520"/>
            <a:ext cx="2194560" cy="914400"/>
          </a:xfrm>
          <a:prstGeom prst="rect">
            <a:avLst/>
          </a:prstGeom>
          <a:noFill/>
          <a:ln/>
        </p:spPr>
        <p:txBody>
          <a:bodyPr wrap="square" lIns="0" tIns="0" rIns="0" bIns="0" rtlCol="0" anchor="t"/>
          <a:lstStyle/>
          <a:p>
            <a:pPr marL="0" indent="0">
              <a:buNone/>
            </a:pPr>
            <a:r>
              <a:rPr lang="en-US" sz="1400" dirty="0">
                <a:solidFill>
                  <a:schemeClr val="tx1"/>
                </a:solidFill>
              </a:rPr>
              <a:t>Balances precision and recall in a single number.</a:t>
            </a:r>
            <a:endParaRPr lang="en-US" sz="1400" dirty="0"/>
          </a:p>
        </p:txBody>
      </p:sp>
      <p:sp>
        <p:nvSpPr>
          <p:cNvPr id="23" name="Card"/>
          <p:cNvSpPr/>
          <p:nvPr/>
        </p:nvSpPr>
        <p:spPr>
          <a:xfrm>
            <a:off x="548640" y="4434840"/>
            <a:ext cx="11064240" cy="1554480"/>
          </a:xfrm>
          <a:prstGeom prst="roundRect">
            <a:avLst>
              <a:gd name="adj" fmla="val 5882"/>
            </a:avLst>
          </a:prstGeom>
          <a:solidFill>
            <a:schemeClr val="tx1"/>
          </a:solidFill>
          <a:ln/>
        </p:spPr>
      </p:sp>
      <p:sp>
        <p:nvSpPr>
          <p:cNvPr id="24" name="Icon circle"/>
          <p:cNvSpPr/>
          <p:nvPr/>
        </p:nvSpPr>
        <p:spPr>
          <a:xfrm>
            <a:off x="868680" y="4892040"/>
            <a:ext cx="640080" cy="640080"/>
          </a:xfrm>
          <a:prstGeom prst="ellipse">
            <a:avLst/>
          </a:prstGeom>
          <a:solidFill>
            <a:schemeClr val="accent2"/>
          </a:solidFill>
          <a:ln/>
        </p:spPr>
      </p:sp>
      <p:pic>
        <p:nvPicPr>
          <p:cNvPr id="25" name="Image 4" descr="ExclamationTriangle icon"/>
          <p:cNvPicPr>
            <a:picLocks noChangeAspect="1"/>
          </p:cNvPicPr>
          <p:nvPr/>
        </p:nvPicPr>
        <p:blipFill>
          <a:blip r:embed="rId7"/>
          <a:stretch>
            <a:fillRect/>
          </a:stretch>
        </p:blipFill>
        <p:spPr>
          <a:xfrm>
            <a:off x="1028700" y="5052060"/>
            <a:ext cx="320040" cy="320040"/>
          </a:xfrm>
          <a:prstGeom prst="rect">
            <a:avLst/>
          </a:prstGeom>
        </p:spPr>
      </p:pic>
      <p:sp>
        <p:nvSpPr>
          <p:cNvPr id="26" name="Text 19"/>
          <p:cNvSpPr txBox="1"/>
          <p:nvPr/>
        </p:nvSpPr>
        <p:spPr>
          <a:xfrm>
            <a:off x="1828800" y="4434840"/>
            <a:ext cx="9509760" cy="1554480"/>
          </a:xfrm>
          <a:prstGeom prst="rect">
            <a:avLst/>
          </a:prstGeom>
          <a:noFill/>
          <a:ln/>
        </p:spPr>
        <p:txBody>
          <a:bodyPr wrap="square" lIns="0" tIns="0" rIns="0" bIns="0" rtlCol="0" anchor="ctr"/>
          <a:lstStyle/>
          <a:p>
            <a:pPr marL="0" indent="0">
              <a:buNone/>
            </a:pPr>
            <a:r>
              <a:rPr lang="en-US" sz="1800" dirty="0">
                <a:solidFill>
                  <a:schemeClr val="bg1"/>
                </a:solidFill>
              </a:rPr>
              <a:t>In imbalanced data, a model can look accurate while missing the students who need support. Report precision, recall and F1 together, with the dataset, target and validation method.</a:t>
            </a:r>
            <a:endParaRPr lang="en-US" sz="1800" dirty="0"/>
          </a:p>
        </p:txBody>
      </p:sp>
      <p:sp>
        <p:nvSpPr>
          <p:cNvPr id="27" name="Slide Number Placeholder 0"/>
          <p:cNvSpPr>
            <a:spLocks noGrp="1"/>
          </p:cNvSpPr>
          <p:nvPr>
            <p:ph type="sldNum" sz="quarter" idx="4294967295"/>
          </p:nvPr>
        </p:nvSpPr>
        <p:spPr>
          <a:xfrm>
            <a:off x="11064240" y="6400800"/>
            <a:ext cx="59436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600" b="1" dirty="0">
                <a:solidFill>
                  <a:schemeClr val="tx1"/>
                </a:solidFill>
              </a:rPr>
              <a:t>A responsible early-warning cycle</a:t>
            </a:r>
            <a:endParaRPr lang="en-US" sz="3600" dirty="0"/>
          </a:p>
        </p:txBody>
      </p:sp>
      <p:sp>
        <p:nvSpPr>
          <p:cNvPr id="3" name="Governance frame"/>
          <p:cNvSpPr/>
          <p:nvPr/>
        </p:nvSpPr>
        <p:spPr>
          <a:xfrm>
            <a:off x="457200" y="1417320"/>
            <a:ext cx="11274552" cy="3429000"/>
          </a:xfrm>
          <a:prstGeom prst="roundRect">
            <a:avLst>
              <a:gd name="adj" fmla="val 2667"/>
            </a:avLst>
          </a:prstGeom>
          <a:solidFill>
            <a:schemeClr val="bg2"/>
          </a:solidFill>
          <a:ln/>
        </p:spPr>
      </p:sp>
      <p:sp>
        <p:nvSpPr>
          <p:cNvPr id="4" name="Text 2"/>
          <p:cNvSpPr txBox="1"/>
          <p:nvPr/>
        </p:nvSpPr>
        <p:spPr>
          <a:xfrm>
            <a:off x="731520" y="1554480"/>
            <a:ext cx="10698480" cy="365760"/>
          </a:xfrm>
          <a:prstGeom prst="rect">
            <a:avLst/>
          </a:prstGeom>
          <a:noFill/>
          <a:ln/>
        </p:spPr>
        <p:txBody>
          <a:bodyPr wrap="square" lIns="0" tIns="0" rIns="0" bIns="0" rtlCol="0" anchor="t"/>
          <a:lstStyle/>
          <a:p>
            <a:pPr marL="0" indent="0" algn="ctr">
              <a:buNone/>
            </a:pPr>
            <a:r>
              <a:rPr lang="en-US" sz="1600" b="1" dirty="0">
                <a:solidFill>
                  <a:schemeClr val="accent6"/>
                </a:solidFill>
              </a:rPr>
              <a:t>Governance throughout: privacy  •  fairness  •  transparency  •  human oversight</a:t>
            </a:r>
            <a:endParaRPr lang="en-US" sz="1600" dirty="0"/>
          </a:p>
        </p:txBody>
      </p:sp>
      <p:sp>
        <p:nvSpPr>
          <p:cNvPr id="5" name="Card"/>
          <p:cNvSpPr/>
          <p:nvPr/>
        </p:nvSpPr>
        <p:spPr>
          <a:xfrm>
            <a:off x="658368" y="2103120"/>
            <a:ext cx="1645920" cy="2560320"/>
          </a:xfrm>
          <a:prstGeom prst="roundRect">
            <a:avLst>
              <a:gd name="adj" fmla="val 5556"/>
            </a:avLst>
          </a:prstGeom>
          <a:solidFill>
            <a:schemeClr val="bg1"/>
          </a:solidFill>
          <a:ln/>
          <a:effectLst>
            <a:outerShdw blurRad="101600" dist="25400" dir="5400000" algn="bl" rotWithShape="0">
              <a:srgbClr val="000000">
                <a:alpha val="14000"/>
              </a:srgbClr>
            </a:outerShdw>
          </a:effectLst>
        </p:spPr>
      </p:sp>
      <p:sp>
        <p:nvSpPr>
          <p:cNvPr id="6" name="Icon circle"/>
          <p:cNvSpPr/>
          <p:nvPr/>
        </p:nvSpPr>
        <p:spPr>
          <a:xfrm>
            <a:off x="1161288" y="2286000"/>
            <a:ext cx="640080" cy="640080"/>
          </a:xfrm>
          <a:prstGeom prst="ellipse">
            <a:avLst/>
          </a:prstGeom>
          <a:solidFill>
            <a:schemeClr val="accent1"/>
          </a:solidFill>
          <a:ln/>
        </p:spPr>
      </p:sp>
      <p:pic>
        <p:nvPicPr>
          <p:cNvPr id="7" name="Image 0" descr="Database icon"/>
          <p:cNvPicPr>
            <a:picLocks noChangeAspect="1"/>
          </p:cNvPicPr>
          <p:nvPr/>
        </p:nvPicPr>
        <p:blipFill>
          <a:blip r:embed="rId3"/>
          <a:stretch>
            <a:fillRect/>
          </a:stretch>
        </p:blipFill>
        <p:spPr>
          <a:xfrm>
            <a:off x="1321308" y="2446020"/>
            <a:ext cx="320040" cy="320040"/>
          </a:xfrm>
          <a:prstGeom prst="rect">
            <a:avLst/>
          </a:prstGeom>
        </p:spPr>
      </p:pic>
      <p:sp>
        <p:nvSpPr>
          <p:cNvPr id="8" name="Text 5"/>
          <p:cNvSpPr txBox="1"/>
          <p:nvPr/>
        </p:nvSpPr>
        <p:spPr>
          <a:xfrm>
            <a:off x="795528" y="3063240"/>
            <a:ext cx="1371600" cy="274320"/>
          </a:xfrm>
          <a:prstGeom prst="rect">
            <a:avLst/>
          </a:prstGeom>
          <a:noFill/>
          <a:ln/>
        </p:spPr>
        <p:txBody>
          <a:bodyPr wrap="square" lIns="0" tIns="0" rIns="0" bIns="0" rtlCol="0" anchor="t"/>
          <a:lstStyle/>
          <a:p>
            <a:pPr marL="0" indent="0" algn="ctr">
              <a:buNone/>
            </a:pPr>
            <a:r>
              <a:rPr lang="en-US" sz="1200" b="1" dirty="0">
                <a:solidFill>
                  <a:schemeClr val="tx2"/>
                </a:solidFill>
              </a:rPr>
              <a:t>STEP 1</a:t>
            </a:r>
            <a:endParaRPr lang="en-US" sz="1200" dirty="0"/>
          </a:p>
        </p:txBody>
      </p:sp>
      <p:sp>
        <p:nvSpPr>
          <p:cNvPr id="9" name="Text 6"/>
          <p:cNvSpPr txBox="1"/>
          <p:nvPr/>
        </p:nvSpPr>
        <p:spPr>
          <a:xfrm>
            <a:off x="795528" y="3383280"/>
            <a:ext cx="1371600" cy="1188720"/>
          </a:xfrm>
          <a:prstGeom prst="rect">
            <a:avLst/>
          </a:prstGeom>
          <a:noFill/>
          <a:ln/>
        </p:spPr>
        <p:txBody>
          <a:bodyPr wrap="square" lIns="0" tIns="0" rIns="0" bIns="0" rtlCol="0" anchor="t"/>
          <a:lstStyle/>
          <a:p>
            <a:pPr marL="0" indent="0" algn="ctr">
              <a:buNone/>
            </a:pPr>
            <a:r>
              <a:rPr lang="en-US" sz="1400" b="1" dirty="0">
                <a:solidFill>
                  <a:schemeClr val="tx1"/>
                </a:solidFill>
              </a:rPr>
              <a:t>Collect permitted data</a:t>
            </a:r>
            <a:endParaRPr lang="en-US" sz="1400" dirty="0"/>
          </a:p>
        </p:txBody>
      </p:sp>
      <p:sp>
        <p:nvSpPr>
          <p:cNvPr id="10" name="Arrow 1"/>
          <p:cNvSpPr/>
          <p:nvPr/>
        </p:nvSpPr>
        <p:spPr>
          <a:xfrm rot="5400000">
            <a:off x="2322576" y="3200400"/>
            <a:ext cx="164592" cy="164592"/>
          </a:xfrm>
          <a:prstGeom prst="triangle">
            <a:avLst/>
          </a:prstGeom>
          <a:solidFill>
            <a:schemeClr val="accent1"/>
          </a:solidFill>
          <a:ln/>
        </p:spPr>
      </p:sp>
      <p:sp>
        <p:nvSpPr>
          <p:cNvPr id="11" name="Card"/>
          <p:cNvSpPr/>
          <p:nvPr/>
        </p:nvSpPr>
        <p:spPr>
          <a:xfrm>
            <a:off x="2505456" y="2103120"/>
            <a:ext cx="1645920" cy="2560320"/>
          </a:xfrm>
          <a:prstGeom prst="roundRect">
            <a:avLst>
              <a:gd name="adj" fmla="val 5556"/>
            </a:avLst>
          </a:prstGeom>
          <a:solidFill>
            <a:schemeClr val="bg1"/>
          </a:solidFill>
          <a:ln/>
          <a:effectLst>
            <a:outerShdw blurRad="101600" dist="25400" dir="5400000" algn="bl" rotWithShape="0">
              <a:srgbClr val="000000">
                <a:alpha val="14000"/>
              </a:srgbClr>
            </a:outerShdw>
          </a:effectLst>
        </p:spPr>
      </p:sp>
      <p:sp>
        <p:nvSpPr>
          <p:cNvPr id="12" name="Icon circle"/>
          <p:cNvSpPr/>
          <p:nvPr/>
        </p:nvSpPr>
        <p:spPr>
          <a:xfrm>
            <a:off x="3008376" y="2286000"/>
            <a:ext cx="640080" cy="640080"/>
          </a:xfrm>
          <a:prstGeom prst="ellipse">
            <a:avLst/>
          </a:prstGeom>
          <a:solidFill>
            <a:schemeClr val="accent1"/>
          </a:solidFill>
          <a:ln/>
        </p:spPr>
      </p:sp>
      <p:pic>
        <p:nvPicPr>
          <p:cNvPr id="13" name="Image 1" descr="ClipboardCheck icon"/>
          <p:cNvPicPr>
            <a:picLocks noChangeAspect="1"/>
          </p:cNvPicPr>
          <p:nvPr/>
        </p:nvPicPr>
        <p:blipFill>
          <a:blip r:embed="rId4"/>
          <a:stretch>
            <a:fillRect/>
          </a:stretch>
        </p:blipFill>
        <p:spPr>
          <a:xfrm>
            <a:off x="3168396" y="2446020"/>
            <a:ext cx="320040" cy="320040"/>
          </a:xfrm>
          <a:prstGeom prst="rect">
            <a:avLst/>
          </a:prstGeom>
        </p:spPr>
      </p:pic>
      <p:sp>
        <p:nvSpPr>
          <p:cNvPr id="14" name="Text 10"/>
          <p:cNvSpPr txBox="1"/>
          <p:nvPr/>
        </p:nvSpPr>
        <p:spPr>
          <a:xfrm>
            <a:off x="2642616" y="3063240"/>
            <a:ext cx="1371600" cy="274320"/>
          </a:xfrm>
          <a:prstGeom prst="rect">
            <a:avLst/>
          </a:prstGeom>
          <a:noFill/>
          <a:ln/>
        </p:spPr>
        <p:txBody>
          <a:bodyPr wrap="square" lIns="0" tIns="0" rIns="0" bIns="0" rtlCol="0" anchor="t"/>
          <a:lstStyle/>
          <a:p>
            <a:pPr marL="0" indent="0" algn="ctr">
              <a:buNone/>
            </a:pPr>
            <a:r>
              <a:rPr lang="en-US" sz="1200" b="1" dirty="0">
                <a:solidFill>
                  <a:schemeClr val="tx2"/>
                </a:solidFill>
              </a:rPr>
              <a:t>STEP 2</a:t>
            </a:r>
            <a:endParaRPr lang="en-US" sz="1200" dirty="0"/>
          </a:p>
        </p:txBody>
      </p:sp>
      <p:sp>
        <p:nvSpPr>
          <p:cNvPr id="15" name="Text 11"/>
          <p:cNvSpPr txBox="1"/>
          <p:nvPr/>
        </p:nvSpPr>
        <p:spPr>
          <a:xfrm>
            <a:off x="2642616" y="3383280"/>
            <a:ext cx="1371600" cy="1188720"/>
          </a:xfrm>
          <a:prstGeom prst="rect">
            <a:avLst/>
          </a:prstGeom>
          <a:noFill/>
          <a:ln/>
        </p:spPr>
        <p:txBody>
          <a:bodyPr wrap="square" lIns="0" tIns="0" rIns="0" bIns="0" rtlCol="0" anchor="t"/>
          <a:lstStyle/>
          <a:p>
            <a:pPr marL="0" indent="0" algn="ctr">
              <a:buNone/>
            </a:pPr>
            <a:r>
              <a:rPr lang="en-US" sz="1400" b="1" dirty="0">
                <a:solidFill>
                  <a:schemeClr val="tx1"/>
                </a:solidFill>
              </a:rPr>
              <a:t>Validate and prepare</a:t>
            </a:r>
            <a:endParaRPr lang="en-US" sz="1400" dirty="0"/>
          </a:p>
        </p:txBody>
      </p:sp>
      <p:sp>
        <p:nvSpPr>
          <p:cNvPr id="16" name="Arrow 2"/>
          <p:cNvSpPr/>
          <p:nvPr/>
        </p:nvSpPr>
        <p:spPr>
          <a:xfrm rot="5400000">
            <a:off x="4169664" y="3200400"/>
            <a:ext cx="164592" cy="164592"/>
          </a:xfrm>
          <a:prstGeom prst="triangle">
            <a:avLst/>
          </a:prstGeom>
          <a:solidFill>
            <a:schemeClr val="accent1"/>
          </a:solidFill>
          <a:ln/>
        </p:spPr>
      </p:sp>
      <p:sp>
        <p:nvSpPr>
          <p:cNvPr id="17" name="Card"/>
          <p:cNvSpPr/>
          <p:nvPr/>
        </p:nvSpPr>
        <p:spPr>
          <a:xfrm>
            <a:off x="4352544" y="2103120"/>
            <a:ext cx="1645920" cy="2560320"/>
          </a:xfrm>
          <a:prstGeom prst="roundRect">
            <a:avLst>
              <a:gd name="adj" fmla="val 5556"/>
            </a:avLst>
          </a:prstGeom>
          <a:solidFill>
            <a:schemeClr val="bg1"/>
          </a:solidFill>
          <a:ln/>
          <a:effectLst>
            <a:outerShdw blurRad="101600" dist="25400" dir="5400000" algn="bl" rotWithShape="0">
              <a:srgbClr val="000000">
                <a:alpha val="14000"/>
              </a:srgbClr>
            </a:outerShdw>
          </a:effectLst>
        </p:spPr>
      </p:sp>
      <p:sp>
        <p:nvSpPr>
          <p:cNvPr id="18" name="Icon circle"/>
          <p:cNvSpPr/>
          <p:nvPr/>
        </p:nvSpPr>
        <p:spPr>
          <a:xfrm>
            <a:off x="4855464" y="2286000"/>
            <a:ext cx="640080" cy="640080"/>
          </a:xfrm>
          <a:prstGeom prst="ellipse">
            <a:avLst/>
          </a:prstGeom>
          <a:solidFill>
            <a:schemeClr val="accent1"/>
          </a:solidFill>
          <a:ln/>
        </p:spPr>
      </p:sp>
      <p:pic>
        <p:nvPicPr>
          <p:cNvPr id="19" name="Image 2" descr="ChartLine icon"/>
          <p:cNvPicPr>
            <a:picLocks noChangeAspect="1"/>
          </p:cNvPicPr>
          <p:nvPr/>
        </p:nvPicPr>
        <p:blipFill>
          <a:blip r:embed="rId5"/>
          <a:stretch>
            <a:fillRect/>
          </a:stretch>
        </p:blipFill>
        <p:spPr>
          <a:xfrm>
            <a:off x="5015484" y="2446020"/>
            <a:ext cx="320040" cy="320040"/>
          </a:xfrm>
          <a:prstGeom prst="rect">
            <a:avLst/>
          </a:prstGeom>
        </p:spPr>
      </p:pic>
      <p:sp>
        <p:nvSpPr>
          <p:cNvPr id="20" name="Text 15"/>
          <p:cNvSpPr txBox="1"/>
          <p:nvPr/>
        </p:nvSpPr>
        <p:spPr>
          <a:xfrm>
            <a:off x="4489704" y="3063240"/>
            <a:ext cx="1371600" cy="274320"/>
          </a:xfrm>
          <a:prstGeom prst="rect">
            <a:avLst/>
          </a:prstGeom>
          <a:noFill/>
          <a:ln/>
        </p:spPr>
        <p:txBody>
          <a:bodyPr wrap="square" lIns="0" tIns="0" rIns="0" bIns="0" rtlCol="0" anchor="t"/>
          <a:lstStyle/>
          <a:p>
            <a:pPr marL="0" indent="0" algn="ctr">
              <a:buNone/>
            </a:pPr>
            <a:r>
              <a:rPr lang="en-US" sz="1200" b="1" dirty="0">
                <a:solidFill>
                  <a:schemeClr val="tx2"/>
                </a:solidFill>
              </a:rPr>
              <a:t>STEP 3</a:t>
            </a:r>
            <a:endParaRPr lang="en-US" sz="1200" dirty="0"/>
          </a:p>
        </p:txBody>
      </p:sp>
      <p:sp>
        <p:nvSpPr>
          <p:cNvPr id="21" name="Text 16"/>
          <p:cNvSpPr txBox="1"/>
          <p:nvPr/>
        </p:nvSpPr>
        <p:spPr>
          <a:xfrm>
            <a:off x="4489704" y="3383280"/>
            <a:ext cx="1371600" cy="1188720"/>
          </a:xfrm>
          <a:prstGeom prst="rect">
            <a:avLst/>
          </a:prstGeom>
          <a:noFill/>
          <a:ln/>
        </p:spPr>
        <p:txBody>
          <a:bodyPr wrap="square" lIns="0" tIns="0" rIns="0" bIns="0" rtlCol="0" anchor="t"/>
          <a:lstStyle/>
          <a:p>
            <a:pPr marL="0" indent="0" algn="ctr">
              <a:buNone/>
            </a:pPr>
            <a:r>
              <a:rPr lang="en-US" sz="1400" b="1" dirty="0">
                <a:solidFill>
                  <a:schemeClr val="tx1"/>
                </a:solidFill>
              </a:rPr>
              <a:t>Estimate risk with a tested model</a:t>
            </a:r>
            <a:endParaRPr lang="en-US" sz="1400" dirty="0"/>
          </a:p>
        </p:txBody>
      </p:sp>
      <p:sp>
        <p:nvSpPr>
          <p:cNvPr id="22" name="Arrow 3"/>
          <p:cNvSpPr/>
          <p:nvPr/>
        </p:nvSpPr>
        <p:spPr>
          <a:xfrm rot="5400000">
            <a:off x="6016752" y="3200400"/>
            <a:ext cx="164592" cy="164592"/>
          </a:xfrm>
          <a:prstGeom prst="triangle">
            <a:avLst/>
          </a:prstGeom>
          <a:solidFill>
            <a:schemeClr val="accent1"/>
          </a:solidFill>
          <a:ln/>
        </p:spPr>
      </p:sp>
      <p:sp>
        <p:nvSpPr>
          <p:cNvPr id="23" name="Card"/>
          <p:cNvSpPr/>
          <p:nvPr/>
        </p:nvSpPr>
        <p:spPr>
          <a:xfrm>
            <a:off x="6199632" y="2103120"/>
            <a:ext cx="1645920" cy="2560320"/>
          </a:xfrm>
          <a:prstGeom prst="roundRect">
            <a:avLst>
              <a:gd name="adj" fmla="val 5556"/>
            </a:avLst>
          </a:prstGeom>
          <a:solidFill>
            <a:schemeClr val="bg1"/>
          </a:solidFill>
          <a:ln/>
          <a:effectLst>
            <a:outerShdw blurRad="101600" dist="25400" dir="5400000" algn="bl" rotWithShape="0">
              <a:srgbClr val="000000">
                <a:alpha val="14000"/>
              </a:srgbClr>
            </a:outerShdw>
          </a:effectLst>
        </p:spPr>
      </p:sp>
      <p:sp>
        <p:nvSpPr>
          <p:cNvPr id="24" name="Icon circle"/>
          <p:cNvSpPr/>
          <p:nvPr/>
        </p:nvSpPr>
        <p:spPr>
          <a:xfrm>
            <a:off x="6702552" y="2286000"/>
            <a:ext cx="640080" cy="640080"/>
          </a:xfrm>
          <a:prstGeom prst="ellipse">
            <a:avLst/>
          </a:prstGeom>
          <a:solidFill>
            <a:schemeClr val="accent1"/>
          </a:solidFill>
          <a:ln/>
        </p:spPr>
      </p:sp>
      <p:pic>
        <p:nvPicPr>
          <p:cNvPr id="25" name="Image 3" descr="Eye icon"/>
          <p:cNvPicPr>
            <a:picLocks noChangeAspect="1"/>
          </p:cNvPicPr>
          <p:nvPr/>
        </p:nvPicPr>
        <p:blipFill>
          <a:blip r:embed="rId6"/>
          <a:stretch>
            <a:fillRect/>
          </a:stretch>
        </p:blipFill>
        <p:spPr>
          <a:xfrm>
            <a:off x="6862572" y="2446020"/>
            <a:ext cx="320040" cy="320040"/>
          </a:xfrm>
          <a:prstGeom prst="rect">
            <a:avLst/>
          </a:prstGeom>
        </p:spPr>
      </p:pic>
      <p:sp>
        <p:nvSpPr>
          <p:cNvPr id="26" name="Text 20"/>
          <p:cNvSpPr txBox="1"/>
          <p:nvPr/>
        </p:nvSpPr>
        <p:spPr>
          <a:xfrm>
            <a:off x="6336792" y="3063240"/>
            <a:ext cx="1371600" cy="274320"/>
          </a:xfrm>
          <a:prstGeom prst="rect">
            <a:avLst/>
          </a:prstGeom>
          <a:noFill/>
          <a:ln/>
        </p:spPr>
        <p:txBody>
          <a:bodyPr wrap="square" lIns="0" tIns="0" rIns="0" bIns="0" rtlCol="0" anchor="t"/>
          <a:lstStyle/>
          <a:p>
            <a:pPr marL="0" indent="0" algn="ctr">
              <a:buNone/>
            </a:pPr>
            <a:r>
              <a:rPr lang="en-US" sz="1200" b="1" dirty="0">
                <a:solidFill>
                  <a:schemeClr val="tx2"/>
                </a:solidFill>
              </a:rPr>
              <a:t>STEP 4</a:t>
            </a:r>
            <a:endParaRPr lang="en-US" sz="1200" dirty="0"/>
          </a:p>
        </p:txBody>
      </p:sp>
      <p:sp>
        <p:nvSpPr>
          <p:cNvPr id="27" name="Text 21"/>
          <p:cNvSpPr txBox="1"/>
          <p:nvPr/>
        </p:nvSpPr>
        <p:spPr>
          <a:xfrm>
            <a:off x="6336792" y="3383280"/>
            <a:ext cx="1371600" cy="1188720"/>
          </a:xfrm>
          <a:prstGeom prst="rect">
            <a:avLst/>
          </a:prstGeom>
          <a:noFill/>
          <a:ln/>
        </p:spPr>
        <p:txBody>
          <a:bodyPr wrap="square" lIns="0" tIns="0" rIns="0" bIns="0" rtlCol="0" anchor="t"/>
          <a:lstStyle/>
          <a:p>
            <a:pPr marL="0" indent="0" algn="ctr">
              <a:buNone/>
            </a:pPr>
            <a:r>
              <a:rPr lang="en-US" sz="1400" b="1" dirty="0">
                <a:solidFill>
                  <a:schemeClr val="tx1"/>
                </a:solidFill>
              </a:rPr>
              <a:t>Educator reviews context</a:t>
            </a:r>
            <a:endParaRPr lang="en-US" sz="1400" dirty="0"/>
          </a:p>
        </p:txBody>
      </p:sp>
      <p:sp>
        <p:nvSpPr>
          <p:cNvPr id="28" name="Arrow 4"/>
          <p:cNvSpPr/>
          <p:nvPr/>
        </p:nvSpPr>
        <p:spPr>
          <a:xfrm rot="5400000">
            <a:off x="7863840" y="3200400"/>
            <a:ext cx="164592" cy="164592"/>
          </a:xfrm>
          <a:prstGeom prst="triangle">
            <a:avLst/>
          </a:prstGeom>
          <a:solidFill>
            <a:schemeClr val="accent1"/>
          </a:solidFill>
          <a:ln/>
        </p:spPr>
      </p:sp>
      <p:sp>
        <p:nvSpPr>
          <p:cNvPr id="29" name="Card"/>
          <p:cNvSpPr/>
          <p:nvPr/>
        </p:nvSpPr>
        <p:spPr>
          <a:xfrm>
            <a:off x="8046720" y="2103120"/>
            <a:ext cx="1645920" cy="2560320"/>
          </a:xfrm>
          <a:prstGeom prst="roundRect">
            <a:avLst>
              <a:gd name="adj" fmla="val 5556"/>
            </a:avLst>
          </a:prstGeom>
          <a:solidFill>
            <a:schemeClr val="bg1"/>
          </a:solidFill>
          <a:ln/>
          <a:effectLst>
            <a:outerShdw blurRad="101600" dist="25400" dir="5400000" algn="bl" rotWithShape="0">
              <a:srgbClr val="000000">
                <a:alpha val="14000"/>
              </a:srgbClr>
            </a:outerShdw>
          </a:effectLst>
        </p:spPr>
      </p:sp>
      <p:sp>
        <p:nvSpPr>
          <p:cNvPr id="30" name="Icon circle"/>
          <p:cNvSpPr/>
          <p:nvPr/>
        </p:nvSpPr>
        <p:spPr>
          <a:xfrm>
            <a:off x="8549640" y="2286000"/>
            <a:ext cx="640080" cy="640080"/>
          </a:xfrm>
          <a:prstGeom prst="ellipse">
            <a:avLst/>
          </a:prstGeom>
          <a:solidFill>
            <a:schemeClr val="accent1"/>
          </a:solidFill>
          <a:ln/>
        </p:spPr>
      </p:sp>
      <p:pic>
        <p:nvPicPr>
          <p:cNvPr id="31" name="Image 4" descr="HandsHelping icon"/>
          <p:cNvPicPr>
            <a:picLocks noChangeAspect="1"/>
          </p:cNvPicPr>
          <p:nvPr/>
        </p:nvPicPr>
        <p:blipFill>
          <a:blip r:embed="rId7"/>
          <a:stretch>
            <a:fillRect/>
          </a:stretch>
        </p:blipFill>
        <p:spPr>
          <a:xfrm>
            <a:off x="8709660" y="2446020"/>
            <a:ext cx="320040" cy="320040"/>
          </a:xfrm>
          <a:prstGeom prst="rect">
            <a:avLst/>
          </a:prstGeom>
        </p:spPr>
      </p:pic>
      <p:sp>
        <p:nvSpPr>
          <p:cNvPr id="32" name="Text 25"/>
          <p:cNvSpPr txBox="1"/>
          <p:nvPr/>
        </p:nvSpPr>
        <p:spPr>
          <a:xfrm>
            <a:off x="8183880" y="3063240"/>
            <a:ext cx="1371600" cy="274320"/>
          </a:xfrm>
          <a:prstGeom prst="rect">
            <a:avLst/>
          </a:prstGeom>
          <a:noFill/>
          <a:ln/>
        </p:spPr>
        <p:txBody>
          <a:bodyPr wrap="square" lIns="0" tIns="0" rIns="0" bIns="0" rtlCol="0" anchor="t"/>
          <a:lstStyle/>
          <a:p>
            <a:pPr marL="0" indent="0" algn="ctr">
              <a:buNone/>
            </a:pPr>
            <a:r>
              <a:rPr lang="en-US" sz="1200" b="1" dirty="0">
                <a:solidFill>
                  <a:schemeClr val="tx2"/>
                </a:solidFill>
              </a:rPr>
              <a:t>STEP 5</a:t>
            </a:r>
            <a:endParaRPr lang="en-US" sz="1200" dirty="0"/>
          </a:p>
        </p:txBody>
      </p:sp>
      <p:sp>
        <p:nvSpPr>
          <p:cNvPr id="33" name="Text 26"/>
          <p:cNvSpPr txBox="1"/>
          <p:nvPr/>
        </p:nvSpPr>
        <p:spPr>
          <a:xfrm>
            <a:off x="8183880" y="3383280"/>
            <a:ext cx="1371600" cy="1188720"/>
          </a:xfrm>
          <a:prstGeom prst="rect">
            <a:avLst/>
          </a:prstGeom>
          <a:noFill/>
          <a:ln/>
        </p:spPr>
        <p:txBody>
          <a:bodyPr wrap="square" lIns="0" tIns="0" rIns="0" bIns="0" rtlCol="0" anchor="t"/>
          <a:lstStyle/>
          <a:p>
            <a:pPr marL="0" indent="0" algn="ctr">
              <a:buNone/>
            </a:pPr>
            <a:r>
              <a:rPr lang="en-US" sz="1400" b="1" dirty="0">
                <a:solidFill>
                  <a:schemeClr val="tx1"/>
                </a:solidFill>
              </a:rPr>
              <a:t>Offer appropriate support</a:t>
            </a:r>
            <a:endParaRPr lang="en-US" sz="1400" dirty="0"/>
          </a:p>
        </p:txBody>
      </p:sp>
      <p:sp>
        <p:nvSpPr>
          <p:cNvPr id="34" name="Arrow 5"/>
          <p:cNvSpPr/>
          <p:nvPr/>
        </p:nvSpPr>
        <p:spPr>
          <a:xfrm rot="5400000">
            <a:off x="9710928" y="3200400"/>
            <a:ext cx="164592" cy="164592"/>
          </a:xfrm>
          <a:prstGeom prst="triangle">
            <a:avLst/>
          </a:prstGeom>
          <a:solidFill>
            <a:schemeClr val="accent1"/>
          </a:solidFill>
          <a:ln/>
        </p:spPr>
      </p:sp>
      <p:sp>
        <p:nvSpPr>
          <p:cNvPr id="35" name="Card"/>
          <p:cNvSpPr/>
          <p:nvPr/>
        </p:nvSpPr>
        <p:spPr>
          <a:xfrm>
            <a:off x="9893808" y="2103120"/>
            <a:ext cx="1645920" cy="2560320"/>
          </a:xfrm>
          <a:prstGeom prst="roundRect">
            <a:avLst>
              <a:gd name="adj" fmla="val 5556"/>
            </a:avLst>
          </a:prstGeom>
          <a:solidFill>
            <a:schemeClr val="bg1"/>
          </a:solidFill>
          <a:ln/>
          <a:effectLst>
            <a:outerShdw blurRad="101600" dist="25400" dir="5400000" algn="bl" rotWithShape="0">
              <a:srgbClr val="000000">
                <a:alpha val="14000"/>
              </a:srgbClr>
            </a:outerShdw>
          </a:effectLst>
        </p:spPr>
      </p:sp>
      <p:sp>
        <p:nvSpPr>
          <p:cNvPr id="36" name="Icon circle"/>
          <p:cNvSpPr/>
          <p:nvPr/>
        </p:nvSpPr>
        <p:spPr>
          <a:xfrm>
            <a:off x="10396728" y="2286000"/>
            <a:ext cx="640080" cy="640080"/>
          </a:xfrm>
          <a:prstGeom prst="ellipse">
            <a:avLst/>
          </a:prstGeom>
          <a:solidFill>
            <a:schemeClr val="accent1"/>
          </a:solidFill>
          <a:ln/>
        </p:spPr>
      </p:sp>
      <p:pic>
        <p:nvPicPr>
          <p:cNvPr id="37" name="Image 5" descr="BalanceScale icon"/>
          <p:cNvPicPr>
            <a:picLocks noChangeAspect="1"/>
          </p:cNvPicPr>
          <p:nvPr/>
        </p:nvPicPr>
        <p:blipFill>
          <a:blip r:embed="rId8"/>
          <a:stretch>
            <a:fillRect/>
          </a:stretch>
        </p:blipFill>
        <p:spPr>
          <a:xfrm>
            <a:off x="10556748" y="2446020"/>
            <a:ext cx="320040" cy="320040"/>
          </a:xfrm>
          <a:prstGeom prst="rect">
            <a:avLst/>
          </a:prstGeom>
        </p:spPr>
      </p:pic>
      <p:sp>
        <p:nvSpPr>
          <p:cNvPr id="38" name="Text 30"/>
          <p:cNvSpPr txBox="1"/>
          <p:nvPr/>
        </p:nvSpPr>
        <p:spPr>
          <a:xfrm>
            <a:off x="10030968" y="3063240"/>
            <a:ext cx="1371600" cy="274320"/>
          </a:xfrm>
          <a:prstGeom prst="rect">
            <a:avLst/>
          </a:prstGeom>
          <a:noFill/>
          <a:ln/>
        </p:spPr>
        <p:txBody>
          <a:bodyPr wrap="square" lIns="0" tIns="0" rIns="0" bIns="0" rtlCol="0" anchor="t"/>
          <a:lstStyle/>
          <a:p>
            <a:pPr marL="0" indent="0" algn="ctr">
              <a:buNone/>
            </a:pPr>
            <a:r>
              <a:rPr lang="en-US" sz="1200" b="1" dirty="0">
                <a:solidFill>
                  <a:schemeClr val="tx2"/>
                </a:solidFill>
              </a:rPr>
              <a:t>STEP 6</a:t>
            </a:r>
            <a:endParaRPr lang="en-US" sz="1200" dirty="0"/>
          </a:p>
        </p:txBody>
      </p:sp>
      <p:sp>
        <p:nvSpPr>
          <p:cNvPr id="39" name="Text 31"/>
          <p:cNvSpPr txBox="1"/>
          <p:nvPr/>
        </p:nvSpPr>
        <p:spPr>
          <a:xfrm>
            <a:off x="10030968" y="3383280"/>
            <a:ext cx="1371600" cy="1188720"/>
          </a:xfrm>
          <a:prstGeom prst="rect">
            <a:avLst/>
          </a:prstGeom>
          <a:noFill/>
          <a:ln/>
        </p:spPr>
        <p:txBody>
          <a:bodyPr wrap="square" lIns="0" tIns="0" rIns="0" bIns="0" rtlCol="0" anchor="t"/>
          <a:lstStyle/>
          <a:p>
            <a:pPr marL="0" indent="0" algn="ctr">
              <a:buNone/>
            </a:pPr>
            <a:r>
              <a:rPr lang="en-US" sz="1400" b="1" dirty="0">
                <a:solidFill>
                  <a:schemeClr val="tx1"/>
                </a:solidFill>
              </a:rPr>
              <a:t>Evaluate outcomes and fairness</a:t>
            </a:r>
            <a:endParaRPr lang="en-US" sz="1400" dirty="0"/>
          </a:p>
        </p:txBody>
      </p:sp>
      <p:sp>
        <p:nvSpPr>
          <p:cNvPr id="40" name="Card"/>
          <p:cNvSpPr/>
          <p:nvPr/>
        </p:nvSpPr>
        <p:spPr>
          <a:xfrm>
            <a:off x="457200" y="5120640"/>
            <a:ext cx="11274552" cy="914400"/>
          </a:xfrm>
          <a:prstGeom prst="roundRect">
            <a:avLst>
              <a:gd name="adj" fmla="val 10000"/>
            </a:avLst>
          </a:prstGeom>
          <a:solidFill>
            <a:schemeClr val="accent2"/>
          </a:solidFill>
          <a:ln/>
        </p:spPr>
      </p:sp>
      <p:sp>
        <p:nvSpPr>
          <p:cNvPr id="41" name="Text 33"/>
          <p:cNvSpPr txBox="1"/>
          <p:nvPr/>
        </p:nvSpPr>
        <p:spPr>
          <a:xfrm>
            <a:off x="731520" y="5120640"/>
            <a:ext cx="10698480" cy="914400"/>
          </a:xfrm>
          <a:prstGeom prst="rect">
            <a:avLst/>
          </a:prstGeom>
          <a:noFill/>
          <a:ln/>
        </p:spPr>
        <p:txBody>
          <a:bodyPr wrap="square" lIns="0" tIns="0" rIns="0" bIns="0" rtlCol="0" anchor="ctr"/>
          <a:lstStyle/>
          <a:p>
            <a:pPr marL="0" indent="0" algn="ctr">
              <a:buNone/>
            </a:pPr>
            <a:r>
              <a:rPr lang="en-US" sz="2000" b="1" dirty="0">
                <a:solidFill>
                  <a:schemeClr val="tx1"/>
                </a:solidFill>
              </a:rPr>
              <a:t>A risk score should prompt supportive review, never automatic punishment or labelling.</a:t>
            </a:r>
            <a:endParaRPr lang="en-US" sz="2000" dirty="0"/>
          </a:p>
        </p:txBody>
      </p:sp>
      <p:sp>
        <p:nvSpPr>
          <p:cNvPr id="42" name="Slide Number Placeholder 0"/>
          <p:cNvSpPr>
            <a:spLocks noGrp="1"/>
          </p:cNvSpPr>
          <p:nvPr>
            <p:ph type="sldNum" sz="quarter" idx="4294967295"/>
          </p:nvPr>
        </p:nvSpPr>
        <p:spPr>
          <a:xfrm>
            <a:off x="11064240" y="6400800"/>
            <a:ext cx="59436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600" b="1" dirty="0">
                <a:solidFill>
                  <a:schemeClr val="tx1"/>
                </a:solidFill>
              </a:rPr>
              <a:t>Gaps to close, safeguards to apply</a:t>
            </a:r>
            <a:endParaRPr lang="en-US" sz="3600" dirty="0"/>
          </a:p>
        </p:txBody>
      </p:sp>
      <p:sp>
        <p:nvSpPr>
          <p:cNvPr id="3" name="Card"/>
          <p:cNvSpPr/>
          <p:nvPr/>
        </p:nvSpPr>
        <p:spPr>
          <a:xfrm>
            <a:off x="548640" y="1417320"/>
            <a:ext cx="5422392" cy="4572000"/>
          </a:xfrm>
          <a:prstGeom prst="roundRect">
            <a:avLst>
              <a:gd name="adj" fmla="val 2000"/>
            </a:avLst>
          </a:prstGeom>
          <a:solidFill>
            <a:schemeClr val="bg2"/>
          </a:solidFill>
          <a:ln/>
        </p:spPr>
      </p:sp>
      <p:sp>
        <p:nvSpPr>
          <p:cNvPr id="4" name="Icon circle"/>
          <p:cNvSpPr/>
          <p:nvPr/>
        </p:nvSpPr>
        <p:spPr>
          <a:xfrm>
            <a:off x="822960" y="1645920"/>
            <a:ext cx="640080" cy="640080"/>
          </a:xfrm>
          <a:prstGeom prst="ellipse">
            <a:avLst/>
          </a:prstGeom>
          <a:solidFill>
            <a:schemeClr val="accent3"/>
          </a:solidFill>
          <a:ln/>
        </p:spPr>
      </p:sp>
      <p:pic>
        <p:nvPicPr>
          <p:cNvPr id="5" name="Image 0" descr="Search icon"/>
          <p:cNvPicPr>
            <a:picLocks noChangeAspect="1"/>
          </p:cNvPicPr>
          <p:nvPr/>
        </p:nvPicPr>
        <p:blipFill>
          <a:blip r:embed="rId3"/>
          <a:stretch>
            <a:fillRect/>
          </a:stretch>
        </p:blipFill>
        <p:spPr>
          <a:xfrm>
            <a:off x="982980" y="1805940"/>
            <a:ext cx="320040" cy="320040"/>
          </a:xfrm>
          <a:prstGeom prst="rect">
            <a:avLst/>
          </a:prstGeom>
        </p:spPr>
      </p:pic>
      <p:sp>
        <p:nvSpPr>
          <p:cNvPr id="6" name="Text 3"/>
          <p:cNvSpPr txBox="1"/>
          <p:nvPr/>
        </p:nvSpPr>
        <p:spPr>
          <a:xfrm>
            <a:off x="1645920" y="1645920"/>
            <a:ext cx="3840480" cy="640080"/>
          </a:xfrm>
          <a:prstGeom prst="rect">
            <a:avLst/>
          </a:prstGeom>
          <a:noFill/>
          <a:ln/>
        </p:spPr>
        <p:txBody>
          <a:bodyPr wrap="square" lIns="0" tIns="0" rIns="0" bIns="0" rtlCol="0" anchor="ctr"/>
          <a:lstStyle/>
          <a:p>
            <a:pPr marL="0" indent="0">
              <a:buNone/>
            </a:pPr>
            <a:r>
              <a:rPr lang="en-US" sz="2200" b="1" dirty="0">
                <a:solidFill>
                  <a:schemeClr val="tx1"/>
                </a:solidFill>
              </a:rPr>
              <a:t>Research gaps</a:t>
            </a:r>
            <a:endParaRPr lang="en-US" sz="2200" dirty="0"/>
          </a:p>
        </p:txBody>
      </p:sp>
      <p:sp>
        <p:nvSpPr>
          <p:cNvPr id="7" name="Bullet dot"/>
          <p:cNvSpPr/>
          <p:nvPr/>
        </p:nvSpPr>
        <p:spPr>
          <a:xfrm>
            <a:off x="868680" y="2697480"/>
            <a:ext cx="146304" cy="146304"/>
          </a:xfrm>
          <a:prstGeom prst="ellipse">
            <a:avLst/>
          </a:prstGeom>
          <a:solidFill>
            <a:schemeClr val="accent3"/>
          </a:solidFill>
          <a:ln/>
        </p:spPr>
      </p:sp>
      <p:sp>
        <p:nvSpPr>
          <p:cNvPr id="8" name="Text 5"/>
          <p:cNvSpPr txBox="1"/>
          <p:nvPr/>
        </p:nvSpPr>
        <p:spPr>
          <a:xfrm>
            <a:off x="1234440" y="2606040"/>
            <a:ext cx="4480560" cy="685800"/>
          </a:xfrm>
          <a:prstGeom prst="rect">
            <a:avLst/>
          </a:prstGeom>
          <a:noFill/>
          <a:ln/>
        </p:spPr>
        <p:txBody>
          <a:bodyPr wrap="square" lIns="0" tIns="0" rIns="0" bIns="0" rtlCol="0" anchor="t"/>
          <a:lstStyle/>
          <a:p>
            <a:pPr marL="0" indent="0">
              <a:buNone/>
            </a:pPr>
            <a:r>
              <a:rPr lang="en-US" sz="1600" b="1" dirty="0">
                <a:solidFill>
                  <a:schemeClr val="tx1"/>
                </a:solidFill>
              </a:rPr>
              <a:t>Temporal coverage</a:t>
            </a:r>
            <a:endParaRPr lang="en-US" sz="1600" dirty="0"/>
          </a:p>
          <a:p>
            <a:pPr marL="0" indent="0">
              <a:buNone/>
            </a:pPr>
            <a:r>
              <a:rPr lang="en-US" sz="1400" dirty="0">
                <a:solidFill>
                  <a:schemeClr val="tx2"/>
                </a:solidFill>
              </a:rPr>
              <a:t>Static features miss changing engagement</a:t>
            </a:r>
            <a:endParaRPr lang="en-US" sz="1600" dirty="0"/>
          </a:p>
        </p:txBody>
      </p:sp>
      <p:sp>
        <p:nvSpPr>
          <p:cNvPr id="9" name="Bullet dot"/>
          <p:cNvSpPr/>
          <p:nvPr/>
        </p:nvSpPr>
        <p:spPr>
          <a:xfrm>
            <a:off x="868680" y="3520440"/>
            <a:ext cx="146304" cy="146304"/>
          </a:xfrm>
          <a:prstGeom prst="ellipse">
            <a:avLst/>
          </a:prstGeom>
          <a:solidFill>
            <a:schemeClr val="accent3"/>
          </a:solidFill>
          <a:ln/>
        </p:spPr>
      </p:sp>
      <p:sp>
        <p:nvSpPr>
          <p:cNvPr id="10" name="Text 7"/>
          <p:cNvSpPr txBox="1"/>
          <p:nvPr/>
        </p:nvSpPr>
        <p:spPr>
          <a:xfrm>
            <a:off x="1234440" y="3429000"/>
            <a:ext cx="4480560" cy="685800"/>
          </a:xfrm>
          <a:prstGeom prst="rect">
            <a:avLst/>
          </a:prstGeom>
          <a:noFill/>
          <a:ln/>
        </p:spPr>
        <p:txBody>
          <a:bodyPr wrap="square" lIns="0" tIns="0" rIns="0" bIns="0" rtlCol="0" anchor="t"/>
          <a:lstStyle/>
          <a:p>
            <a:pPr marL="0" indent="0">
              <a:buNone/>
            </a:pPr>
            <a:r>
              <a:rPr lang="en-US" sz="1600" b="1" dirty="0">
                <a:solidFill>
                  <a:schemeClr val="tx1"/>
                </a:solidFill>
              </a:rPr>
              <a:t>Interpretability</a:t>
            </a:r>
            <a:endParaRPr lang="en-US" sz="1600" dirty="0"/>
          </a:p>
          <a:p>
            <a:pPr marL="0" indent="0">
              <a:buNone/>
            </a:pPr>
            <a:r>
              <a:rPr lang="en-US" sz="1400" dirty="0">
                <a:solidFill>
                  <a:schemeClr val="tx2"/>
                </a:solidFill>
              </a:rPr>
              <a:t>Alerts need explanations educators can act on</a:t>
            </a:r>
            <a:endParaRPr lang="en-US" sz="1600" dirty="0"/>
          </a:p>
        </p:txBody>
      </p:sp>
      <p:sp>
        <p:nvSpPr>
          <p:cNvPr id="11" name="Bullet dot"/>
          <p:cNvSpPr/>
          <p:nvPr/>
        </p:nvSpPr>
        <p:spPr>
          <a:xfrm>
            <a:off x="868680" y="4343400"/>
            <a:ext cx="146304" cy="146304"/>
          </a:xfrm>
          <a:prstGeom prst="ellipse">
            <a:avLst/>
          </a:prstGeom>
          <a:solidFill>
            <a:schemeClr val="accent3"/>
          </a:solidFill>
          <a:ln/>
        </p:spPr>
      </p:sp>
      <p:sp>
        <p:nvSpPr>
          <p:cNvPr id="12" name="Text 9"/>
          <p:cNvSpPr txBox="1"/>
          <p:nvPr/>
        </p:nvSpPr>
        <p:spPr>
          <a:xfrm>
            <a:off x="1234440" y="4251960"/>
            <a:ext cx="4480560" cy="685800"/>
          </a:xfrm>
          <a:prstGeom prst="rect">
            <a:avLst/>
          </a:prstGeom>
          <a:noFill/>
          <a:ln/>
        </p:spPr>
        <p:txBody>
          <a:bodyPr wrap="square" lIns="0" tIns="0" rIns="0" bIns="0" rtlCol="0" anchor="t"/>
          <a:lstStyle/>
          <a:p>
            <a:pPr marL="0" indent="0">
              <a:buNone/>
            </a:pPr>
            <a:r>
              <a:rPr lang="en-US" sz="1600" b="1" dirty="0">
                <a:solidFill>
                  <a:schemeClr val="tx1"/>
                </a:solidFill>
              </a:rPr>
              <a:t>Generalizability</a:t>
            </a:r>
            <a:endParaRPr lang="en-US" sz="1600" dirty="0"/>
          </a:p>
          <a:p>
            <a:pPr marL="0" indent="0">
              <a:buNone/>
            </a:pPr>
            <a:r>
              <a:rPr lang="en-US" sz="1400" dirty="0">
                <a:solidFill>
                  <a:schemeClr val="tx2"/>
                </a:solidFill>
              </a:rPr>
              <a:t>Results shift across institutions and subjects</a:t>
            </a:r>
            <a:endParaRPr lang="en-US" sz="1600" dirty="0"/>
          </a:p>
        </p:txBody>
      </p:sp>
      <p:sp>
        <p:nvSpPr>
          <p:cNvPr id="13" name="Bullet dot"/>
          <p:cNvSpPr/>
          <p:nvPr/>
        </p:nvSpPr>
        <p:spPr>
          <a:xfrm>
            <a:off x="868680" y="5166360"/>
            <a:ext cx="146304" cy="146304"/>
          </a:xfrm>
          <a:prstGeom prst="ellipse">
            <a:avLst/>
          </a:prstGeom>
          <a:solidFill>
            <a:schemeClr val="accent3"/>
          </a:solidFill>
          <a:ln/>
        </p:spPr>
      </p:sp>
      <p:sp>
        <p:nvSpPr>
          <p:cNvPr id="14" name="Text 11"/>
          <p:cNvSpPr txBox="1"/>
          <p:nvPr/>
        </p:nvSpPr>
        <p:spPr>
          <a:xfrm>
            <a:off x="1234440" y="5074920"/>
            <a:ext cx="4480560" cy="685800"/>
          </a:xfrm>
          <a:prstGeom prst="rect">
            <a:avLst/>
          </a:prstGeom>
          <a:noFill/>
          <a:ln/>
        </p:spPr>
        <p:txBody>
          <a:bodyPr wrap="square" lIns="0" tIns="0" rIns="0" bIns="0" rtlCol="0" anchor="t"/>
          <a:lstStyle/>
          <a:p>
            <a:pPr marL="0" indent="0">
              <a:buNone/>
            </a:pPr>
            <a:r>
              <a:rPr lang="en-US" sz="1600" b="1" dirty="0">
                <a:solidFill>
                  <a:schemeClr val="tx1"/>
                </a:solidFill>
              </a:rPr>
              <a:t>Evaluation quality</a:t>
            </a:r>
            <a:endParaRPr lang="en-US" sz="1600" dirty="0"/>
          </a:p>
          <a:p>
            <a:pPr marL="0" indent="0">
              <a:buNone/>
            </a:pPr>
            <a:r>
              <a:rPr lang="en-US" sz="1400" dirty="0">
                <a:solidFill>
                  <a:schemeClr val="tx2"/>
                </a:solidFill>
              </a:rPr>
              <a:t>Leakage-resistant tests; do interventions work?</a:t>
            </a:r>
            <a:endParaRPr lang="en-US" sz="1600" dirty="0"/>
          </a:p>
        </p:txBody>
      </p:sp>
      <p:sp>
        <p:nvSpPr>
          <p:cNvPr id="15" name="Card"/>
          <p:cNvSpPr/>
          <p:nvPr/>
        </p:nvSpPr>
        <p:spPr>
          <a:xfrm>
            <a:off x="6199632" y="1417320"/>
            <a:ext cx="5422392" cy="4572000"/>
          </a:xfrm>
          <a:prstGeom prst="roundRect">
            <a:avLst>
              <a:gd name="adj" fmla="val 2000"/>
            </a:avLst>
          </a:prstGeom>
          <a:solidFill>
            <a:schemeClr val="bg2"/>
          </a:solidFill>
          <a:ln/>
        </p:spPr>
      </p:sp>
      <p:sp>
        <p:nvSpPr>
          <p:cNvPr id="16" name="Icon circle"/>
          <p:cNvSpPr/>
          <p:nvPr/>
        </p:nvSpPr>
        <p:spPr>
          <a:xfrm>
            <a:off x="6473952" y="1645920"/>
            <a:ext cx="640080" cy="640080"/>
          </a:xfrm>
          <a:prstGeom prst="ellipse">
            <a:avLst/>
          </a:prstGeom>
          <a:solidFill>
            <a:schemeClr val="accent1"/>
          </a:solidFill>
          <a:ln/>
        </p:spPr>
      </p:sp>
      <p:pic>
        <p:nvPicPr>
          <p:cNvPr id="17" name="Image 1" descr="ShieldAlt icon"/>
          <p:cNvPicPr>
            <a:picLocks noChangeAspect="1"/>
          </p:cNvPicPr>
          <p:nvPr/>
        </p:nvPicPr>
        <p:blipFill>
          <a:blip r:embed="rId4"/>
          <a:stretch>
            <a:fillRect/>
          </a:stretch>
        </p:blipFill>
        <p:spPr>
          <a:xfrm>
            <a:off x="6633972" y="1805940"/>
            <a:ext cx="320040" cy="320040"/>
          </a:xfrm>
          <a:prstGeom prst="rect">
            <a:avLst/>
          </a:prstGeom>
        </p:spPr>
      </p:pic>
      <p:sp>
        <p:nvSpPr>
          <p:cNvPr id="18" name="Text 14"/>
          <p:cNvSpPr txBox="1"/>
          <p:nvPr/>
        </p:nvSpPr>
        <p:spPr>
          <a:xfrm>
            <a:off x="7296912" y="1645920"/>
            <a:ext cx="3840480" cy="640080"/>
          </a:xfrm>
          <a:prstGeom prst="rect">
            <a:avLst/>
          </a:prstGeom>
          <a:noFill/>
          <a:ln/>
        </p:spPr>
        <p:txBody>
          <a:bodyPr wrap="square" lIns="0" tIns="0" rIns="0" bIns="0" rtlCol="0" anchor="ctr"/>
          <a:lstStyle/>
          <a:p>
            <a:pPr marL="0" indent="0">
              <a:buNone/>
            </a:pPr>
            <a:r>
              <a:rPr lang="en-US" sz="2200" b="1" dirty="0">
                <a:solidFill>
                  <a:schemeClr val="tx1"/>
                </a:solidFill>
              </a:rPr>
              <a:t>Safeguards</a:t>
            </a:r>
            <a:endParaRPr lang="en-US" sz="2200" dirty="0"/>
          </a:p>
        </p:txBody>
      </p:sp>
      <p:sp>
        <p:nvSpPr>
          <p:cNvPr id="19" name="Bullet dot"/>
          <p:cNvSpPr/>
          <p:nvPr/>
        </p:nvSpPr>
        <p:spPr>
          <a:xfrm>
            <a:off x="6519672" y="2697480"/>
            <a:ext cx="146304" cy="146304"/>
          </a:xfrm>
          <a:prstGeom prst="ellipse">
            <a:avLst/>
          </a:prstGeom>
          <a:solidFill>
            <a:schemeClr val="accent1"/>
          </a:solidFill>
          <a:ln/>
        </p:spPr>
      </p:sp>
      <p:sp>
        <p:nvSpPr>
          <p:cNvPr id="20" name="Text 16"/>
          <p:cNvSpPr txBox="1"/>
          <p:nvPr/>
        </p:nvSpPr>
        <p:spPr>
          <a:xfrm>
            <a:off x="6885432" y="2606040"/>
            <a:ext cx="4480560" cy="685800"/>
          </a:xfrm>
          <a:prstGeom prst="rect">
            <a:avLst/>
          </a:prstGeom>
          <a:noFill/>
          <a:ln/>
        </p:spPr>
        <p:txBody>
          <a:bodyPr wrap="square" lIns="0" tIns="0" rIns="0" bIns="0" rtlCol="0" anchor="t"/>
          <a:lstStyle/>
          <a:p>
            <a:pPr marL="0" indent="0">
              <a:buNone/>
            </a:pPr>
            <a:r>
              <a:rPr lang="en-US" sz="1600" b="1" dirty="0">
                <a:solidFill>
                  <a:schemeClr val="tx1"/>
                </a:solidFill>
              </a:rPr>
              <a:t>Data minimisation</a:t>
            </a:r>
            <a:endParaRPr lang="en-US" sz="1600" dirty="0"/>
          </a:p>
          <a:p>
            <a:pPr marL="0" indent="0">
              <a:buNone/>
            </a:pPr>
            <a:r>
              <a:rPr lang="en-US" sz="1400" dirty="0">
                <a:solidFill>
                  <a:schemeClr val="tx2"/>
                </a:solidFill>
              </a:rPr>
              <a:t>Collect only what a clear purpose needs</a:t>
            </a:r>
            <a:endParaRPr lang="en-US" sz="1600" dirty="0"/>
          </a:p>
        </p:txBody>
      </p:sp>
      <p:sp>
        <p:nvSpPr>
          <p:cNvPr id="21" name="Bullet dot"/>
          <p:cNvSpPr/>
          <p:nvPr/>
        </p:nvSpPr>
        <p:spPr>
          <a:xfrm>
            <a:off x="6519672" y="3520440"/>
            <a:ext cx="146304" cy="146304"/>
          </a:xfrm>
          <a:prstGeom prst="ellipse">
            <a:avLst/>
          </a:prstGeom>
          <a:solidFill>
            <a:schemeClr val="accent1"/>
          </a:solidFill>
          <a:ln/>
        </p:spPr>
      </p:sp>
      <p:sp>
        <p:nvSpPr>
          <p:cNvPr id="22" name="Text 18"/>
          <p:cNvSpPr txBox="1"/>
          <p:nvPr/>
        </p:nvSpPr>
        <p:spPr>
          <a:xfrm>
            <a:off x="6885432" y="3429000"/>
            <a:ext cx="4480560" cy="685800"/>
          </a:xfrm>
          <a:prstGeom prst="rect">
            <a:avLst/>
          </a:prstGeom>
          <a:noFill/>
          <a:ln/>
        </p:spPr>
        <p:txBody>
          <a:bodyPr wrap="square" lIns="0" tIns="0" rIns="0" bIns="0" rtlCol="0" anchor="t"/>
          <a:lstStyle/>
          <a:p>
            <a:pPr marL="0" indent="0">
              <a:buNone/>
            </a:pPr>
            <a:r>
              <a:rPr lang="en-US" sz="1600" b="1" dirty="0">
                <a:solidFill>
                  <a:schemeClr val="tx1"/>
                </a:solidFill>
              </a:rPr>
              <a:t>Access and retention</a:t>
            </a:r>
            <a:endParaRPr lang="en-US" sz="1600" dirty="0"/>
          </a:p>
          <a:p>
            <a:pPr marL="0" indent="0">
              <a:buNone/>
            </a:pPr>
            <a:r>
              <a:rPr lang="en-US" sz="1400" dirty="0">
                <a:solidFill>
                  <a:schemeClr val="tx2"/>
                </a:solidFill>
              </a:rPr>
              <a:t>Restrict access, protect records, set time limits</a:t>
            </a:r>
            <a:endParaRPr lang="en-US" sz="1600" dirty="0"/>
          </a:p>
        </p:txBody>
      </p:sp>
      <p:sp>
        <p:nvSpPr>
          <p:cNvPr id="23" name="Bullet dot"/>
          <p:cNvSpPr/>
          <p:nvPr/>
        </p:nvSpPr>
        <p:spPr>
          <a:xfrm>
            <a:off x="6519672" y="4343400"/>
            <a:ext cx="146304" cy="146304"/>
          </a:xfrm>
          <a:prstGeom prst="ellipse">
            <a:avLst/>
          </a:prstGeom>
          <a:solidFill>
            <a:schemeClr val="accent1"/>
          </a:solidFill>
          <a:ln/>
        </p:spPr>
      </p:sp>
      <p:sp>
        <p:nvSpPr>
          <p:cNvPr id="24" name="Text 20"/>
          <p:cNvSpPr txBox="1"/>
          <p:nvPr/>
        </p:nvSpPr>
        <p:spPr>
          <a:xfrm>
            <a:off x="6885432" y="4251960"/>
            <a:ext cx="4480560" cy="685800"/>
          </a:xfrm>
          <a:prstGeom prst="rect">
            <a:avLst/>
          </a:prstGeom>
          <a:noFill/>
          <a:ln/>
        </p:spPr>
        <p:txBody>
          <a:bodyPr wrap="square" lIns="0" tIns="0" rIns="0" bIns="0" rtlCol="0" anchor="t"/>
          <a:lstStyle/>
          <a:p>
            <a:pPr marL="0" indent="0">
              <a:buNone/>
            </a:pPr>
            <a:r>
              <a:rPr lang="en-US" sz="1600" b="1" dirty="0">
                <a:solidFill>
                  <a:schemeClr val="tx1"/>
                </a:solidFill>
              </a:rPr>
              <a:t>Fairness checks</a:t>
            </a:r>
            <a:endParaRPr lang="en-US" sz="1600" dirty="0"/>
          </a:p>
          <a:p>
            <a:pPr marL="0" indent="0">
              <a:buNone/>
            </a:pPr>
            <a:r>
              <a:rPr lang="en-US" sz="1400" dirty="0">
                <a:solidFill>
                  <a:schemeClr val="tx2"/>
                </a:solidFill>
              </a:rPr>
              <a:t>Test across groups; watch proxy variables</a:t>
            </a:r>
            <a:endParaRPr lang="en-US" sz="1600" dirty="0"/>
          </a:p>
        </p:txBody>
      </p:sp>
      <p:sp>
        <p:nvSpPr>
          <p:cNvPr id="25" name="Bullet dot"/>
          <p:cNvSpPr/>
          <p:nvPr/>
        </p:nvSpPr>
        <p:spPr>
          <a:xfrm>
            <a:off x="6519672" y="5166360"/>
            <a:ext cx="146304" cy="146304"/>
          </a:xfrm>
          <a:prstGeom prst="ellipse">
            <a:avLst/>
          </a:prstGeom>
          <a:solidFill>
            <a:schemeClr val="accent1"/>
          </a:solidFill>
          <a:ln/>
        </p:spPr>
      </p:sp>
      <p:sp>
        <p:nvSpPr>
          <p:cNvPr id="26" name="Text 22"/>
          <p:cNvSpPr txBox="1"/>
          <p:nvPr/>
        </p:nvSpPr>
        <p:spPr>
          <a:xfrm>
            <a:off x="6885432" y="5074920"/>
            <a:ext cx="4480560" cy="685800"/>
          </a:xfrm>
          <a:prstGeom prst="rect">
            <a:avLst/>
          </a:prstGeom>
          <a:noFill/>
          <a:ln/>
        </p:spPr>
        <p:txBody>
          <a:bodyPr wrap="square" lIns="0" tIns="0" rIns="0" bIns="0" rtlCol="0" anchor="t"/>
          <a:lstStyle/>
          <a:p>
            <a:pPr marL="0" indent="0">
              <a:buNone/>
            </a:pPr>
            <a:r>
              <a:rPr lang="en-US" sz="1600" b="1" dirty="0">
                <a:solidFill>
                  <a:schemeClr val="tx1"/>
                </a:solidFill>
              </a:rPr>
              <a:t>Ongoing monitoring</a:t>
            </a:r>
            <a:endParaRPr lang="en-US" sz="1600" dirty="0"/>
          </a:p>
          <a:p>
            <a:pPr marL="0" indent="0">
              <a:buNone/>
            </a:pPr>
            <a:r>
              <a:rPr lang="en-US" sz="1400" dirty="0">
                <a:solidFill>
                  <a:schemeClr val="tx2"/>
                </a:solidFill>
              </a:rPr>
              <a:t>Populations and platforms change over time</a:t>
            </a:r>
            <a:endParaRPr lang="en-US" sz="1600" dirty="0"/>
          </a:p>
        </p:txBody>
      </p:sp>
      <p:sp>
        <p:nvSpPr>
          <p:cNvPr id="27" name="Slide Number Placeholder 0"/>
          <p:cNvSpPr>
            <a:spLocks noGrp="1"/>
          </p:cNvSpPr>
          <p:nvPr>
            <p:ph type="sldNum" sz="quarter" idx="4294967295"/>
          </p:nvPr>
        </p:nvSpPr>
        <p:spPr>
          <a:xfrm>
            <a:off x="11064240" y="6400800"/>
            <a:ext cx="59436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600" b="1" dirty="0">
                <a:solidFill>
                  <a:schemeClr val="tx1"/>
                </a:solidFill>
              </a:rPr>
              <a:t>Honest limits, clear next steps</a:t>
            </a:r>
            <a:endParaRPr lang="en-US" sz="3600" dirty="0"/>
          </a:p>
        </p:txBody>
      </p:sp>
      <p:sp>
        <p:nvSpPr>
          <p:cNvPr id="3" name="Card"/>
          <p:cNvSpPr/>
          <p:nvPr/>
        </p:nvSpPr>
        <p:spPr>
          <a:xfrm>
            <a:off x="548640" y="1417320"/>
            <a:ext cx="4937760" cy="4572000"/>
          </a:xfrm>
          <a:prstGeom prst="roundRect">
            <a:avLst>
              <a:gd name="adj" fmla="val 2000"/>
            </a:avLst>
          </a:prstGeom>
          <a:solidFill>
            <a:schemeClr val="bg2"/>
          </a:solidFill>
          <a:ln/>
        </p:spPr>
      </p:sp>
      <p:sp>
        <p:nvSpPr>
          <p:cNvPr id="4" name="Icon circle"/>
          <p:cNvSpPr/>
          <p:nvPr/>
        </p:nvSpPr>
        <p:spPr>
          <a:xfrm>
            <a:off x="822960" y="1645920"/>
            <a:ext cx="640080" cy="640080"/>
          </a:xfrm>
          <a:prstGeom prst="ellipse">
            <a:avLst/>
          </a:prstGeom>
          <a:solidFill>
            <a:schemeClr val="accent6"/>
          </a:solidFill>
          <a:ln/>
        </p:spPr>
      </p:sp>
      <p:pic>
        <p:nvPicPr>
          <p:cNvPr id="5" name="Image 0" descr="Book icon"/>
          <p:cNvPicPr>
            <a:picLocks noChangeAspect="1"/>
          </p:cNvPicPr>
          <p:nvPr/>
        </p:nvPicPr>
        <p:blipFill>
          <a:blip r:embed="rId3"/>
          <a:stretch>
            <a:fillRect/>
          </a:stretch>
        </p:blipFill>
        <p:spPr>
          <a:xfrm>
            <a:off x="982980" y="1805940"/>
            <a:ext cx="320040" cy="320040"/>
          </a:xfrm>
          <a:prstGeom prst="rect">
            <a:avLst/>
          </a:prstGeom>
        </p:spPr>
      </p:pic>
      <p:sp>
        <p:nvSpPr>
          <p:cNvPr id="6" name="Text 3"/>
          <p:cNvSpPr txBox="1"/>
          <p:nvPr/>
        </p:nvSpPr>
        <p:spPr>
          <a:xfrm>
            <a:off x="1645920" y="1645920"/>
            <a:ext cx="3657600" cy="640080"/>
          </a:xfrm>
          <a:prstGeom prst="rect">
            <a:avLst/>
          </a:prstGeom>
          <a:noFill/>
          <a:ln/>
        </p:spPr>
        <p:txBody>
          <a:bodyPr wrap="square" lIns="0" tIns="0" rIns="0" bIns="0" rtlCol="0" anchor="ctr"/>
          <a:lstStyle/>
          <a:p>
            <a:pPr marL="0" indent="0">
              <a:buNone/>
            </a:pPr>
            <a:r>
              <a:rPr lang="en-US" sz="2200" b="1" dirty="0">
                <a:solidFill>
                  <a:schemeClr val="tx1"/>
                </a:solidFill>
              </a:rPr>
              <a:t>What this review is</a:t>
            </a:r>
            <a:endParaRPr lang="en-US" sz="2200" dirty="0"/>
          </a:p>
        </p:txBody>
      </p:sp>
      <p:sp>
        <p:nvSpPr>
          <p:cNvPr id="7" name="Text 4"/>
          <p:cNvSpPr txBox="1"/>
          <p:nvPr/>
        </p:nvSpPr>
        <p:spPr>
          <a:xfrm>
            <a:off x="822960" y="2606040"/>
            <a:ext cx="4389120" cy="310896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chemeClr val="tx1"/>
                </a:solidFill>
              </a:rPr>
              <a:t>A narrative synthesis of the supplied bibliography</a:t>
            </a:r>
            <a:endParaRPr lang="en-US" sz="1800" dirty="0"/>
          </a:p>
          <a:p>
            <a:pPr marL="342900" indent="-342900">
              <a:spcAft>
                <a:spcPts val="1400"/>
              </a:spcAft>
              <a:buSzPct val="100000"/>
              <a:buChar char="•"/>
            </a:pPr>
            <a:r>
              <a:rPr lang="en-US" sz="1800" dirty="0">
                <a:solidFill>
                  <a:schemeClr val="tx1"/>
                </a:solidFill>
              </a:rPr>
              <a:t>No new dataset and no newly trained model</a:t>
            </a:r>
            <a:endParaRPr lang="en-US" sz="1800" dirty="0"/>
          </a:p>
          <a:p>
            <a:pPr marL="342900" indent="-342900">
              <a:buSzPct val="100000"/>
              <a:buChar char="•"/>
            </a:pPr>
            <a:r>
              <a:rPr lang="en-US" sz="1800" dirty="0">
                <a:solidFill>
                  <a:schemeClr val="tx1"/>
                </a:solidFill>
              </a:rPr>
              <a:t>Search log and screening counts not yet recorded, so no claim of exhaustive coverage</a:t>
            </a:r>
            <a:endParaRPr lang="en-US" sz="1800" dirty="0"/>
          </a:p>
        </p:txBody>
      </p:sp>
      <p:sp>
        <p:nvSpPr>
          <p:cNvPr id="8" name="Text 5"/>
          <p:cNvSpPr txBox="1"/>
          <p:nvPr/>
        </p:nvSpPr>
        <p:spPr>
          <a:xfrm>
            <a:off x="5852160" y="1463040"/>
            <a:ext cx="5760720" cy="411480"/>
          </a:xfrm>
          <a:prstGeom prst="rect">
            <a:avLst/>
          </a:prstGeom>
          <a:noFill/>
          <a:ln/>
        </p:spPr>
        <p:txBody>
          <a:bodyPr wrap="square" lIns="0" tIns="0" rIns="0" bIns="0" rtlCol="0" anchor="t"/>
          <a:lstStyle/>
          <a:p>
            <a:pPr marL="0" indent="0">
              <a:buNone/>
            </a:pPr>
            <a:r>
              <a:rPr lang="en-US" sz="2200" b="1" dirty="0">
                <a:solidFill>
                  <a:schemeClr val="tx1"/>
                </a:solidFill>
              </a:rPr>
              <a:t>Before journal submission</a:t>
            </a:r>
            <a:endParaRPr lang="en-US" sz="2200" dirty="0"/>
          </a:p>
        </p:txBody>
      </p:sp>
      <p:sp>
        <p:nvSpPr>
          <p:cNvPr id="9" name="Card"/>
          <p:cNvSpPr/>
          <p:nvPr/>
        </p:nvSpPr>
        <p:spPr>
          <a:xfrm>
            <a:off x="5852160" y="2103120"/>
            <a:ext cx="5760720" cy="1143000"/>
          </a:xfrm>
          <a:prstGeom prst="roundRect">
            <a:avLst>
              <a:gd name="adj" fmla="val 8000"/>
            </a:avLst>
          </a:prstGeom>
          <a:solidFill>
            <a:schemeClr val="bg1"/>
          </a:solidFill>
          <a:ln/>
          <a:effectLst>
            <a:outerShdw blurRad="101600" dist="25400" dir="5400000" algn="bl" rotWithShape="0">
              <a:srgbClr val="000000">
                <a:alpha val="14000"/>
              </a:srgbClr>
            </a:outerShdw>
          </a:effectLst>
        </p:spPr>
      </p:sp>
      <p:sp>
        <p:nvSpPr>
          <p:cNvPr id="10" name="Step number 1"/>
          <p:cNvSpPr txBox="1"/>
          <p:nvPr/>
        </p:nvSpPr>
        <p:spPr>
          <a:xfrm>
            <a:off x="6080760" y="2377440"/>
            <a:ext cx="594360" cy="594360"/>
          </a:xfrm>
          <a:prstGeom prst="ellipse">
            <a:avLst/>
          </a:prstGeom>
          <a:solidFill>
            <a:schemeClr val="accent6"/>
          </a:solid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11" name="Text 8"/>
          <p:cNvSpPr txBox="1"/>
          <p:nvPr/>
        </p:nvSpPr>
        <p:spPr>
          <a:xfrm>
            <a:off x="6766560" y="2286000"/>
            <a:ext cx="4480560" cy="365760"/>
          </a:xfrm>
          <a:prstGeom prst="rect">
            <a:avLst/>
          </a:prstGeom>
          <a:noFill/>
          <a:ln/>
        </p:spPr>
        <p:txBody>
          <a:bodyPr wrap="square" lIns="0" tIns="0" rIns="0" bIns="0" rtlCol="0" anchor="t"/>
          <a:lstStyle/>
          <a:p>
            <a:pPr marL="0" indent="0">
              <a:buNone/>
            </a:pPr>
            <a:r>
              <a:rPr lang="en-US" sz="1800" b="1" dirty="0">
                <a:solidFill>
                  <a:schemeClr val="tx1"/>
                </a:solidFill>
              </a:rPr>
              <a:t>Document the search</a:t>
            </a:r>
            <a:endParaRPr lang="en-US" sz="1800" dirty="0"/>
          </a:p>
        </p:txBody>
      </p:sp>
      <p:sp>
        <p:nvSpPr>
          <p:cNvPr id="12" name="Text 9"/>
          <p:cNvSpPr txBox="1"/>
          <p:nvPr/>
        </p:nvSpPr>
        <p:spPr>
          <a:xfrm>
            <a:off x="6766560" y="2670048"/>
            <a:ext cx="4663440" cy="457200"/>
          </a:xfrm>
          <a:prstGeom prst="rect">
            <a:avLst/>
          </a:prstGeom>
          <a:noFill/>
          <a:ln/>
        </p:spPr>
        <p:txBody>
          <a:bodyPr wrap="square" lIns="0" tIns="0" rIns="0" bIns="0" rtlCol="0" anchor="t"/>
          <a:lstStyle/>
          <a:p>
            <a:pPr marL="0" indent="0">
              <a:buNone/>
            </a:pPr>
            <a:r>
              <a:rPr lang="en-US" sz="1400" dirty="0">
                <a:solidFill>
                  <a:schemeClr val="tx2"/>
                </a:solidFill>
              </a:rPr>
              <a:t>Databases, dates, search strings, inclusion rules, screening counts</a:t>
            </a:r>
            <a:endParaRPr lang="en-US" sz="1400" dirty="0"/>
          </a:p>
        </p:txBody>
      </p:sp>
      <p:sp>
        <p:nvSpPr>
          <p:cNvPr id="13" name="Card"/>
          <p:cNvSpPr/>
          <p:nvPr/>
        </p:nvSpPr>
        <p:spPr>
          <a:xfrm>
            <a:off x="5852160" y="3429000"/>
            <a:ext cx="5760720" cy="1143000"/>
          </a:xfrm>
          <a:prstGeom prst="roundRect">
            <a:avLst>
              <a:gd name="adj" fmla="val 8000"/>
            </a:avLst>
          </a:prstGeom>
          <a:solidFill>
            <a:schemeClr val="bg1"/>
          </a:solidFill>
          <a:ln/>
          <a:effectLst>
            <a:outerShdw blurRad="101600" dist="25400" dir="5400000" algn="bl" rotWithShape="0">
              <a:srgbClr val="000000">
                <a:alpha val="14000"/>
              </a:srgbClr>
            </a:outerShdw>
          </a:effectLst>
        </p:spPr>
      </p:sp>
      <p:sp>
        <p:nvSpPr>
          <p:cNvPr id="14" name="Step number 2"/>
          <p:cNvSpPr txBox="1"/>
          <p:nvPr/>
        </p:nvSpPr>
        <p:spPr>
          <a:xfrm>
            <a:off x="6080760" y="3703320"/>
            <a:ext cx="594360" cy="594360"/>
          </a:xfrm>
          <a:prstGeom prst="ellipse">
            <a:avLst/>
          </a:prstGeom>
          <a:solidFill>
            <a:schemeClr val="accent6"/>
          </a:solid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5" name="Text 12"/>
          <p:cNvSpPr txBox="1"/>
          <p:nvPr/>
        </p:nvSpPr>
        <p:spPr>
          <a:xfrm>
            <a:off x="6766560" y="3611880"/>
            <a:ext cx="4480560" cy="365760"/>
          </a:xfrm>
          <a:prstGeom prst="rect">
            <a:avLst/>
          </a:prstGeom>
          <a:noFill/>
          <a:ln/>
        </p:spPr>
        <p:txBody>
          <a:bodyPr wrap="square" lIns="0" tIns="0" rIns="0" bIns="0" rtlCol="0" anchor="t"/>
          <a:lstStyle/>
          <a:p>
            <a:pPr marL="0" indent="0">
              <a:buNone/>
            </a:pPr>
            <a:r>
              <a:rPr lang="en-US" sz="1800" b="1" dirty="0">
                <a:solidFill>
                  <a:schemeClr val="tx1"/>
                </a:solidFill>
              </a:rPr>
              <a:t>Build the evidence table</a:t>
            </a:r>
            <a:endParaRPr lang="en-US" sz="1800" dirty="0"/>
          </a:p>
        </p:txBody>
      </p:sp>
      <p:sp>
        <p:nvSpPr>
          <p:cNvPr id="16" name="Text 13"/>
          <p:cNvSpPr txBox="1"/>
          <p:nvPr/>
        </p:nvSpPr>
        <p:spPr>
          <a:xfrm>
            <a:off x="6766560" y="3995928"/>
            <a:ext cx="4663440" cy="457200"/>
          </a:xfrm>
          <a:prstGeom prst="rect">
            <a:avLst/>
          </a:prstGeom>
          <a:noFill/>
          <a:ln/>
        </p:spPr>
        <p:txBody>
          <a:bodyPr wrap="square" lIns="0" tIns="0" rIns="0" bIns="0" rtlCol="0" anchor="t"/>
          <a:lstStyle/>
          <a:p>
            <a:pPr marL="0" indent="0">
              <a:buNone/>
            </a:pPr>
            <a:r>
              <a:rPr lang="en-US" sz="1400" dirty="0">
                <a:solidFill>
                  <a:schemeClr val="tx2"/>
                </a:solidFill>
              </a:rPr>
              <a:t>Trace every performance figure to its original paper</a:t>
            </a:r>
            <a:endParaRPr lang="en-US" sz="1400" dirty="0"/>
          </a:p>
        </p:txBody>
      </p:sp>
      <p:sp>
        <p:nvSpPr>
          <p:cNvPr id="17" name="Card"/>
          <p:cNvSpPr/>
          <p:nvPr/>
        </p:nvSpPr>
        <p:spPr>
          <a:xfrm>
            <a:off x="5852160" y="4754880"/>
            <a:ext cx="5760720" cy="1143000"/>
          </a:xfrm>
          <a:prstGeom prst="roundRect">
            <a:avLst>
              <a:gd name="adj" fmla="val 8000"/>
            </a:avLst>
          </a:prstGeom>
          <a:solidFill>
            <a:schemeClr val="bg1"/>
          </a:solidFill>
          <a:ln/>
          <a:effectLst>
            <a:outerShdw blurRad="101600" dist="25400" dir="5400000" algn="bl" rotWithShape="0">
              <a:srgbClr val="000000">
                <a:alpha val="14000"/>
              </a:srgbClr>
            </a:outerShdw>
          </a:effectLst>
        </p:spPr>
      </p:sp>
      <p:sp>
        <p:nvSpPr>
          <p:cNvPr id="18" name="Step number 3"/>
          <p:cNvSpPr txBox="1"/>
          <p:nvPr/>
        </p:nvSpPr>
        <p:spPr>
          <a:xfrm>
            <a:off x="6080760" y="5029200"/>
            <a:ext cx="594360" cy="594360"/>
          </a:xfrm>
          <a:prstGeom prst="ellipse">
            <a:avLst/>
          </a:prstGeom>
          <a:solidFill>
            <a:schemeClr val="accent6"/>
          </a:solid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9" name="Text 16"/>
          <p:cNvSpPr txBox="1"/>
          <p:nvPr/>
        </p:nvSpPr>
        <p:spPr>
          <a:xfrm>
            <a:off x="6766560" y="4937760"/>
            <a:ext cx="4480560" cy="365760"/>
          </a:xfrm>
          <a:prstGeom prst="rect">
            <a:avLst/>
          </a:prstGeom>
          <a:noFill/>
          <a:ln/>
        </p:spPr>
        <p:txBody>
          <a:bodyPr wrap="square" lIns="0" tIns="0" rIns="0" bIns="0" rtlCol="0" anchor="t"/>
          <a:lstStyle/>
          <a:p>
            <a:pPr marL="0" indent="0">
              <a:buNone/>
            </a:pPr>
            <a:r>
              <a:rPr lang="en-US" sz="1800" b="1" dirty="0">
                <a:solidFill>
                  <a:schemeClr val="tx1"/>
                </a:solidFill>
              </a:rPr>
              <a:t>Verify the bibliography</a:t>
            </a:r>
            <a:endParaRPr lang="en-US" sz="1800" dirty="0"/>
          </a:p>
        </p:txBody>
      </p:sp>
      <p:sp>
        <p:nvSpPr>
          <p:cNvPr id="20" name="Text 17"/>
          <p:cNvSpPr txBox="1"/>
          <p:nvPr/>
        </p:nvSpPr>
        <p:spPr>
          <a:xfrm>
            <a:off x="6766560" y="5321808"/>
            <a:ext cx="4663440" cy="457200"/>
          </a:xfrm>
          <a:prstGeom prst="rect">
            <a:avLst/>
          </a:prstGeom>
          <a:noFill/>
          <a:ln/>
        </p:spPr>
        <p:txBody>
          <a:bodyPr wrap="square" lIns="0" tIns="0" rIns="0" bIns="0" rtlCol="0" anchor="t"/>
          <a:lstStyle/>
          <a:p>
            <a:pPr marL="0" indent="0">
              <a:buNone/>
            </a:pPr>
            <a:r>
              <a:rPr lang="en-US" sz="1400" dirty="0">
                <a:solidFill>
                  <a:schemeClr val="tx2"/>
                </a:solidFill>
              </a:rPr>
              <a:t>Check all metadata against publisher records</a:t>
            </a:r>
            <a:endParaRPr lang="en-US" sz="1400" dirty="0"/>
          </a:p>
        </p:txBody>
      </p:sp>
      <p:sp>
        <p:nvSpPr>
          <p:cNvPr id="25" name="Slide Number Placeholder 0"/>
          <p:cNvSpPr>
            <a:spLocks noGrp="1"/>
          </p:cNvSpPr>
          <p:nvPr>
            <p:ph type="sldNum" sz="quarter" idx="4294967295"/>
          </p:nvPr>
        </p:nvSpPr>
        <p:spPr>
          <a:xfrm>
            <a:off x="11064240" y="6400800"/>
            <a:ext cx="59436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600" b="1" dirty="0">
                <a:solidFill>
                  <a:schemeClr val="bg1"/>
                </a:solidFill>
              </a:rPr>
              <a:t>Use prediction to support, not to label</a:t>
            </a:r>
            <a:endParaRPr lang="en-US" sz="3600" dirty="0"/>
          </a:p>
        </p:txBody>
      </p:sp>
      <p:sp>
        <p:nvSpPr>
          <p:cNvPr id="3" name="Icon circle"/>
          <p:cNvSpPr/>
          <p:nvPr/>
        </p:nvSpPr>
        <p:spPr>
          <a:xfrm>
            <a:off x="548640" y="1554480"/>
            <a:ext cx="822960" cy="822960"/>
          </a:xfrm>
          <a:prstGeom prst="ellipse">
            <a:avLst/>
          </a:prstGeom>
          <a:solidFill>
            <a:schemeClr val="accent2"/>
          </a:solidFill>
          <a:ln/>
        </p:spPr>
      </p:sp>
      <p:pic>
        <p:nvPicPr>
          <p:cNvPr id="4" name="Image 0" descr="ClipboardCheck icon"/>
          <p:cNvPicPr>
            <a:picLocks noChangeAspect="1"/>
          </p:cNvPicPr>
          <p:nvPr/>
        </p:nvPicPr>
        <p:blipFill>
          <a:blip r:embed="rId3"/>
          <a:stretch>
            <a:fillRect/>
          </a:stretch>
        </p:blipFill>
        <p:spPr>
          <a:xfrm>
            <a:off x="754380" y="1760220"/>
            <a:ext cx="411480" cy="411480"/>
          </a:xfrm>
          <a:prstGeom prst="rect">
            <a:avLst/>
          </a:prstGeom>
        </p:spPr>
      </p:pic>
      <p:sp>
        <p:nvSpPr>
          <p:cNvPr id="5" name="Text 2"/>
          <p:cNvSpPr txBox="1"/>
          <p:nvPr/>
        </p:nvSpPr>
        <p:spPr>
          <a:xfrm>
            <a:off x="1645920" y="1554480"/>
            <a:ext cx="5852160" cy="822960"/>
          </a:xfrm>
          <a:prstGeom prst="rect">
            <a:avLst/>
          </a:prstGeom>
          <a:noFill/>
          <a:ln/>
        </p:spPr>
        <p:txBody>
          <a:bodyPr wrap="square" lIns="0" tIns="0" rIns="0" bIns="0" rtlCol="0" anchor="ctr"/>
          <a:lstStyle/>
          <a:p>
            <a:pPr marL="0" indent="0">
              <a:buNone/>
            </a:pPr>
            <a:r>
              <a:rPr lang="en-US" sz="2200" b="1" dirty="0">
                <a:solidFill>
                  <a:schemeClr val="bg1"/>
                </a:solidFill>
              </a:rPr>
              <a:t>Validate locally before deploying any model</a:t>
            </a:r>
            <a:endParaRPr lang="en-US" sz="2200" dirty="0"/>
          </a:p>
        </p:txBody>
      </p:sp>
      <p:sp>
        <p:nvSpPr>
          <p:cNvPr id="6" name="Icon circle"/>
          <p:cNvSpPr/>
          <p:nvPr/>
        </p:nvSpPr>
        <p:spPr>
          <a:xfrm>
            <a:off x="548640" y="3017520"/>
            <a:ext cx="822960" cy="822960"/>
          </a:xfrm>
          <a:prstGeom prst="ellipse">
            <a:avLst/>
          </a:prstGeom>
          <a:solidFill>
            <a:schemeClr val="accent2"/>
          </a:solidFill>
          <a:ln/>
        </p:spPr>
      </p:sp>
      <p:pic>
        <p:nvPicPr>
          <p:cNvPr id="7" name="Image 1" descr="UserGraduate icon"/>
          <p:cNvPicPr>
            <a:picLocks noChangeAspect="1"/>
          </p:cNvPicPr>
          <p:nvPr/>
        </p:nvPicPr>
        <p:blipFill>
          <a:blip r:embed="rId4"/>
          <a:stretch>
            <a:fillRect/>
          </a:stretch>
        </p:blipFill>
        <p:spPr>
          <a:xfrm>
            <a:off x="754380" y="3223260"/>
            <a:ext cx="411480" cy="411480"/>
          </a:xfrm>
          <a:prstGeom prst="rect">
            <a:avLst/>
          </a:prstGeom>
        </p:spPr>
      </p:pic>
      <p:sp>
        <p:nvSpPr>
          <p:cNvPr id="8" name="Text 4"/>
          <p:cNvSpPr txBox="1"/>
          <p:nvPr/>
        </p:nvSpPr>
        <p:spPr>
          <a:xfrm>
            <a:off x="1645920" y="3017520"/>
            <a:ext cx="5852160" cy="822960"/>
          </a:xfrm>
          <a:prstGeom prst="rect">
            <a:avLst/>
          </a:prstGeom>
          <a:noFill/>
          <a:ln/>
        </p:spPr>
        <p:txBody>
          <a:bodyPr wrap="square" lIns="0" tIns="0" rIns="0" bIns="0" rtlCol="0" anchor="ctr"/>
          <a:lstStyle/>
          <a:p>
            <a:pPr marL="0" indent="0">
              <a:buNone/>
            </a:pPr>
            <a:r>
              <a:rPr lang="en-US" sz="2200" b="1" dirty="0">
                <a:solidFill>
                  <a:schemeClr val="bg1"/>
                </a:solidFill>
              </a:rPr>
              <a:t>Keep educators in the loop at every alert</a:t>
            </a:r>
            <a:endParaRPr lang="en-US" sz="2200" dirty="0"/>
          </a:p>
        </p:txBody>
      </p:sp>
      <p:sp>
        <p:nvSpPr>
          <p:cNvPr id="9" name="Icon circle"/>
          <p:cNvSpPr/>
          <p:nvPr/>
        </p:nvSpPr>
        <p:spPr>
          <a:xfrm>
            <a:off x="548640" y="4480560"/>
            <a:ext cx="822960" cy="822960"/>
          </a:xfrm>
          <a:prstGeom prst="ellipse">
            <a:avLst/>
          </a:prstGeom>
          <a:solidFill>
            <a:schemeClr val="accent2"/>
          </a:solidFill>
          <a:ln/>
        </p:spPr>
      </p:sp>
      <p:pic>
        <p:nvPicPr>
          <p:cNvPr id="10" name="Image 2" descr="ChartLine icon"/>
          <p:cNvPicPr>
            <a:picLocks noChangeAspect="1"/>
          </p:cNvPicPr>
          <p:nvPr/>
        </p:nvPicPr>
        <p:blipFill>
          <a:blip r:embed="rId5"/>
          <a:stretch>
            <a:fillRect/>
          </a:stretch>
        </p:blipFill>
        <p:spPr>
          <a:xfrm>
            <a:off x="754380" y="4686300"/>
            <a:ext cx="411480" cy="411480"/>
          </a:xfrm>
          <a:prstGeom prst="rect">
            <a:avLst/>
          </a:prstGeom>
        </p:spPr>
      </p:pic>
      <p:sp>
        <p:nvSpPr>
          <p:cNvPr id="11" name="Text 6"/>
          <p:cNvSpPr txBox="1"/>
          <p:nvPr/>
        </p:nvSpPr>
        <p:spPr>
          <a:xfrm>
            <a:off x="1645920" y="4480560"/>
            <a:ext cx="5852160" cy="822960"/>
          </a:xfrm>
          <a:prstGeom prst="rect">
            <a:avLst/>
          </a:prstGeom>
          <a:noFill/>
          <a:ln/>
        </p:spPr>
        <p:txBody>
          <a:bodyPr wrap="square" lIns="0" tIns="0" rIns="0" bIns="0" rtlCol="0" anchor="ctr"/>
          <a:lstStyle/>
          <a:p>
            <a:pPr marL="0" indent="0">
              <a:buNone/>
            </a:pPr>
            <a:r>
              <a:rPr lang="en-US" sz="2200" b="1" dirty="0">
                <a:solidFill>
                  <a:schemeClr val="bg1"/>
                </a:solidFill>
              </a:rPr>
              <a:t>Judge success by student outcomes, not accuracy alone</a:t>
            </a:r>
            <a:endParaRPr lang="en-US" sz="2200" dirty="0"/>
          </a:p>
        </p:txBody>
      </p:sp>
      <p:sp>
        <p:nvSpPr>
          <p:cNvPr id="12" name="Card"/>
          <p:cNvSpPr/>
          <p:nvPr/>
        </p:nvSpPr>
        <p:spPr>
          <a:xfrm>
            <a:off x="8046720" y="1554480"/>
            <a:ext cx="3566160" cy="4206240"/>
          </a:xfrm>
          <a:prstGeom prst="roundRect">
            <a:avLst>
              <a:gd name="adj" fmla="val 2564"/>
            </a:avLst>
          </a:prstGeom>
          <a:solidFill>
            <a:schemeClr val="accent6"/>
          </a:solidFill>
          <a:ln/>
        </p:spPr>
      </p:sp>
      <p:sp>
        <p:nvSpPr>
          <p:cNvPr id="13" name="Text 8"/>
          <p:cNvSpPr txBox="1"/>
          <p:nvPr/>
        </p:nvSpPr>
        <p:spPr>
          <a:xfrm>
            <a:off x="8366760" y="1920240"/>
            <a:ext cx="2926080" cy="640080"/>
          </a:xfrm>
          <a:prstGeom prst="rect">
            <a:avLst/>
          </a:prstGeom>
          <a:noFill/>
          <a:ln/>
        </p:spPr>
        <p:txBody>
          <a:bodyPr wrap="square" lIns="0" tIns="0" rIns="0" bIns="0" rtlCol="0" anchor="t"/>
          <a:lstStyle/>
          <a:p>
            <a:pPr marL="0" indent="0">
              <a:buNone/>
            </a:pPr>
            <a:r>
              <a:rPr lang="en-US" sz="3200" b="1" dirty="0">
                <a:solidFill>
                  <a:schemeClr val="bg1"/>
                </a:solidFill>
                <a:latin typeface="Cambria" pitchFamily="34" charset="0"/>
                <a:ea typeface="Cambria" pitchFamily="34" charset="-122"/>
                <a:cs typeface="Cambria" pitchFamily="34" charset="-120"/>
              </a:rPr>
              <a:t>Thank you</a:t>
            </a:r>
            <a:endParaRPr lang="en-US" sz="3200" dirty="0"/>
          </a:p>
        </p:txBody>
      </p:sp>
      <p:sp>
        <p:nvSpPr>
          <p:cNvPr id="14" name="Text 9"/>
          <p:cNvSpPr txBox="1"/>
          <p:nvPr/>
        </p:nvSpPr>
        <p:spPr>
          <a:xfrm>
            <a:off x="8366760" y="2651760"/>
            <a:ext cx="2926080" cy="365760"/>
          </a:xfrm>
          <a:prstGeom prst="rect">
            <a:avLst/>
          </a:prstGeom>
          <a:noFill/>
          <a:ln/>
        </p:spPr>
        <p:txBody>
          <a:bodyPr wrap="square" lIns="0" tIns="0" rIns="0" bIns="0" rtlCol="0" anchor="t"/>
          <a:lstStyle/>
          <a:p>
            <a:pPr marL="0" indent="0">
              <a:buNone/>
            </a:pPr>
            <a:r>
              <a:rPr lang="en-US" sz="1600" dirty="0">
                <a:solidFill>
                  <a:schemeClr val="accent5"/>
                </a:solidFill>
              </a:rPr>
              <a:t>Questions and discussion</a:t>
            </a:r>
            <a:endParaRPr lang="en-US" sz="1600" dirty="0"/>
          </a:p>
        </p:txBody>
      </p:sp>
      <p:sp>
        <p:nvSpPr>
          <p:cNvPr id="15" name="Text 10"/>
          <p:cNvSpPr txBox="1"/>
          <p:nvPr/>
        </p:nvSpPr>
        <p:spPr>
          <a:xfrm>
            <a:off x="8366760" y="3931920"/>
            <a:ext cx="3017520" cy="1280160"/>
          </a:xfrm>
          <a:prstGeom prst="rect">
            <a:avLst/>
          </a:prstGeom>
          <a:noFill/>
          <a:ln/>
        </p:spPr>
        <p:txBody>
          <a:bodyPr wrap="square" lIns="0" tIns="0" rIns="0" bIns="0" rtlCol="0" anchor="t"/>
          <a:lstStyle/>
          <a:p>
            <a:pPr marL="0" indent="0">
              <a:buNone/>
            </a:pPr>
            <a:r>
              <a:rPr lang="en-US" sz="1400" b="1" dirty="0">
                <a:solidFill>
                  <a:schemeClr val="bg1"/>
                </a:solidFill>
              </a:rPr>
              <a:t>Sahil Patil</a:t>
            </a:r>
            <a:endParaRPr lang="en-US" sz="1400" dirty="0"/>
          </a:p>
          <a:p>
            <a:pPr marL="0" indent="0">
              <a:buNone/>
            </a:pPr>
            <a:r>
              <a:rPr lang="en-US" sz="1400" dirty="0">
                <a:solidFill>
                  <a:schemeClr val="bg1"/>
                </a:solidFill>
              </a:rPr>
              <a:t>MCA, R. C. Patel Institute, Shirpur</a:t>
            </a:r>
            <a:endParaRPr lang="en-US" sz="1400" dirty="0"/>
          </a:p>
          <a:p>
            <a:pPr marL="0" indent="0">
              <a:buNone/>
            </a:pPr>
            <a:r>
              <a:rPr lang="en-US" sz="1400" dirty="0">
                <a:solidFill>
                  <a:schemeClr val="bg1"/>
                </a:solidFill>
              </a:rPr>
              <a:t>Guide: Dr. Manoj Sonawne</a:t>
            </a:r>
            <a:endParaRPr lang="en-US" sz="1400" dirty="0"/>
          </a:p>
        </p:txBody>
      </p:sp>
      <p:sp>
        <p:nvSpPr>
          <p:cNvPr id="25" name="Slide Number Placeholder 0"/>
          <p:cNvSpPr>
            <a:spLocks noGrp="1"/>
          </p:cNvSpPr>
          <p:nvPr>
            <p:ph type="sldNum" sz="quarter" idx="4294967295"/>
          </p:nvPr>
        </p:nvSpPr>
        <p:spPr>
          <a:xfrm>
            <a:off x="11064240" y="6400800"/>
            <a:ext cx="59436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spTree>
  </p:cSld>
  <p:clrMapOvr>
    <a:masterClrMapping/>
  </p:clrMapOvr>
</p:sld>
</file>

<file path=ppt/theme/theme1.xml><?xml version="1.0" encoding="utf-8"?>
<a:theme xmlns:a="http://schemas.openxmlformats.org/drawingml/2006/main" name="Learning Analytics">
  <a:themeElements>
    <a:clrScheme name="Learning Analytics">
      <a:dk1>
        <a:srgbClr val="10263B"/>
      </a:dk1>
      <a:lt1>
        <a:srgbClr val="FFFFFF"/>
      </a:lt1>
      <a:dk2>
        <a:srgbClr val="3E5C76"/>
      </a:dk2>
      <a:lt2>
        <a:srgbClr val="EAF2F4"/>
      </a:lt2>
      <a:accent1>
        <a:srgbClr val="0E8A87"/>
      </a:accent1>
      <a:accent2>
        <a:srgbClr val="F4A83C"/>
      </a:accent2>
      <a:accent3>
        <a:srgbClr val="D8505F"/>
      </a:accent3>
      <a:accent4>
        <a:srgbClr val="3D7EA6"/>
      </a:accent4>
      <a:accent5>
        <a:srgbClr val="9CCFD1"/>
      </a:accent5>
      <a:accent6>
        <a:srgbClr val="17415F"/>
      </a:accent6>
      <a:hlink>
        <a:srgbClr val="0E8A87"/>
      </a:hlink>
      <a:folHlink>
        <a:srgbClr val="3E5C76"/>
      </a:folHlink>
    </a:clrScheme>
    <a:fontScheme name="Learning Analytic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2254</Words>
  <Application>Microsoft Office PowerPoint</Application>
  <PresentationFormat>Widescreen</PresentationFormat>
  <Paragraphs>219</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vt:lpstr>
      <vt:lpstr>Learning Analytics</vt:lpstr>
      <vt:lpstr>Big Data in Education: What Shapes Student Academic Performance</vt:lpstr>
      <vt:lpstr>Can data spot struggle before it shows?</vt:lpstr>
      <vt:lpstr>Today’s roadmap</vt:lpstr>
      <vt:lpstr>Three questions frame the review</vt:lpstr>
      <vt:lpstr>Four factor families shape performance</vt:lpstr>
      <vt:lpstr>Timing decides what a feature is worth</vt:lpstr>
      <vt:lpstr>Evidence varies by context and design</vt:lpstr>
      <vt:lpstr>Every model trades power for clarity</vt:lpstr>
      <vt:lpstr>Accuracy alone can hide missed students</vt:lpstr>
      <vt:lpstr>A responsible early-warning cycle</vt:lpstr>
      <vt:lpstr>Gaps to close, safeguards to apply</vt:lpstr>
      <vt:lpstr>Honest limits, clear next steps</vt:lpstr>
      <vt:lpstr>Use prediction to support, not to label</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Big Data in Education: Factors That Influence Student Academic Performance</dc:title>
  <dc:subject>PptxGenJS Presentation</dc:subject>
  <dc:creator>Sahil Patil</dc:creator>
  <cp:lastModifiedBy>SAHIL PATIL</cp:lastModifiedBy>
  <cp:revision>1</cp:revision>
  <dcterms:created xsi:type="dcterms:W3CDTF">2026-10-19T15:57:46Z</dcterms:created>
  <dcterms:modified xsi:type="dcterms:W3CDTF">2026-10-19T16:39:28Z</dcterms:modified>
</cp:coreProperties>
</file>